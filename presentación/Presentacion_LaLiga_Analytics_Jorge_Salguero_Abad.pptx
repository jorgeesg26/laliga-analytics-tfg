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Buenos días, soy Jorge Salguero Abad y voy a presentar LaLiga Analytics. Es una aplicación web que transforma datos históricos de LaLiga en clasificaciones, gráficos, comparaciones y una predicción básica con inteligencia artificial.</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Aquí explico la idea del proyecto. Partí de datos reales en CSV, pero esa forma no era práctica para consultar resultados. Por eso creé una herramienta visual donde se pueda elegir temporada, ver gráficos, comparar equipos y usar el modelo de IA.</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esta parte explico el dataset. Usé archivos CSV de varias temporadas, seleccioné las columnas realmente útiles y generé un único archivo limpio llamado laliga_clean.csv. Ese archivo es la base del dashboard, los gráficos y el modelo.</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Aquí defiendo la parte de programación orientada a objetos. La clase DataManager sirve como base para cargar y guardar datos, LaLigaDataManager añade validación y limpieza, LaLigaAnalyzer calcula clasificación y rankings, y MatchPredictor encapsula el modelo de IA.</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parte que más ayuda a enseñar el proyecto. El dashboard permite explorar los datos sin tocar código. El usuario puede cambiar la temporada, consultar la clasificación, ver gráficos, comparar equipos y probar la IA.</a:t>
            </a:r>
            <a:endParaRPr/>
          </a:p>
        </p:txBody>
      </p:sp>
      <p:sp>
        <p:nvSpPr>
          <p:cNvPr id="152" name="Google Shape;15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esta diapositiva explico las métricas calculadas: puntos, goles a favor, goles en contra y diferencia de goles. Comento que los mejores equipos suelen tener buena diferencia de goles, pero que ataque y defensa deben analizarse por separado.</a:t>
            </a:r>
            <a:endParaRPr/>
          </a:p>
        </p:txBody>
      </p:sp>
      <p:sp>
        <p:nvSpPr>
          <p:cNvPr id="184" name="Google Shape;18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modelo de IA es un Random Forest. Usa tiros, tiros a puerta y tarjetas para clasificar el resultado. Obtuvo una precisión del 50,9%. Hay que explicar que no es una herramienta profesional de predicción, sino una demostración práctica con variables limitadas.</a:t>
            </a:r>
            <a:endParaRPr/>
          </a:p>
        </p:txBody>
      </p:sp>
      <p:sp>
        <p:nvSpPr>
          <p:cNvPr id="209" name="Google Shape;2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parte de testing explico que añadí pruebas automáticas con Pytest. Estas pruebas comprueban dataset, columnas, cálculo de puntos, clasificación y modelo. Además, el dashboard tiene control de errores para mostrar mensajes claros si algo falla.</a:t>
            </a:r>
            <a:endParaRPr/>
          </a:p>
        </p:txBody>
      </p:sp>
      <p:sp>
        <p:nvSpPr>
          <p:cNvPr id="247" name="Google Shape;2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Aquí comento cómo podría evolucionar: ampliar datos, añadir variables previas, mejorar el modelo y publicar el dashboard en la nube. Esto demuestra que el proyecto tiene recorrido más allá de la versión actual.</a:t>
            </a:r>
            <a:endParaRPr/>
          </a:p>
        </p:txBody>
      </p:sp>
      <p:sp>
        <p:nvSpPr>
          <p:cNvPr id="283" name="Google Shape;2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cerrar, resumo que el proyecto une gestión de datos, visualización, POO, testing e inteligencia artificial. Termino mostrando el repositorio y agradeciendo la atención.</a:t>
            </a:r>
            <a:endParaRPr/>
          </a:p>
        </p:txBody>
      </p:sp>
      <p:sp>
        <p:nvSpPr>
          <p:cNvPr id="309" name="Google Shape;3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17"/>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0B1F17"/>
          </a:solidFill>
          <a:ln cap="flat" cmpd="sng" w="12700">
            <a:solidFill>
              <a:srgbClr val="0B1F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0"/>
            <a:ext cx="12191695" cy="6858000"/>
          </a:xfrm>
          <a:prstGeom prst="rect">
            <a:avLst/>
          </a:prstGeom>
          <a:solidFill>
            <a:srgbClr val="0B1F17"/>
          </a:solidFill>
          <a:ln cap="flat" cmpd="sng" w="12700">
            <a:solidFill>
              <a:srgbClr val="0B1F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869680" y="-731520"/>
            <a:ext cx="3474720" cy="3474720"/>
          </a:xfrm>
          <a:prstGeom prst="arc">
            <a:avLst>
              <a:gd fmla="val 16200000" name="adj1"/>
              <a:gd fmla="val 0" name="adj2"/>
            </a:avLst>
          </a:prstGeom>
          <a:noFill/>
          <a:ln cap="flat" cmpd="sng" w="25400">
            <a:solidFill>
              <a:srgbClr val="0F9F6E">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509760" y="3931920"/>
            <a:ext cx="3108960" cy="3108960"/>
          </a:xfrm>
          <a:prstGeom prst="arc">
            <a:avLst>
              <a:gd fmla="val 16200000" name="adj1"/>
              <a:gd fmla="val 0" name="adj2"/>
            </a:avLst>
          </a:prstGeom>
          <a:noFill/>
          <a:ln cap="flat" cmpd="sng" w="25400">
            <a:solidFill>
              <a:srgbClr val="F5B942">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777240" y="914400"/>
            <a:ext cx="48463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LaLiga</a:t>
            </a:r>
            <a:endParaRPr b="0" i="0" sz="3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Analytics</a:t>
            </a:r>
            <a:endParaRPr b="0" i="0" sz="3800" u="none" cap="none" strike="noStrike">
              <a:solidFill>
                <a:schemeClr val="dk1"/>
              </a:solidFill>
              <a:latin typeface="Arial"/>
              <a:ea typeface="Arial"/>
              <a:cs typeface="Arial"/>
              <a:sym typeface="Arial"/>
            </a:endParaRPr>
          </a:p>
        </p:txBody>
      </p:sp>
      <p:sp>
        <p:nvSpPr>
          <p:cNvPr id="21" name="Google Shape;21;p3"/>
          <p:cNvSpPr/>
          <p:nvPr/>
        </p:nvSpPr>
        <p:spPr>
          <a:xfrm>
            <a:off x="804672" y="2487168"/>
            <a:ext cx="2286000" cy="73152"/>
          </a:xfrm>
          <a:prstGeom prst="rect">
            <a:avLst/>
          </a:prstGeom>
          <a:solidFill>
            <a:srgbClr val="F5B942"/>
          </a:solidFill>
          <a:ln cap="flat" cmpd="sng" w="12700">
            <a:solidFill>
              <a:srgbClr val="F5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804672" y="2761488"/>
            <a:ext cx="46634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FAE5"/>
              </a:buClr>
              <a:buSzPts val="1500"/>
              <a:buFont typeface="Arial"/>
              <a:buNone/>
            </a:pPr>
            <a:r>
              <a:rPr b="0" i="0" lang="en-US" sz="1500" u="none" cap="none" strike="noStrike">
                <a:solidFill>
                  <a:srgbClr val="D1FAE5"/>
                </a:solidFill>
                <a:latin typeface="Arial"/>
                <a:ea typeface="Arial"/>
                <a:cs typeface="Arial"/>
                <a:sym typeface="Arial"/>
              </a:rPr>
              <a:t>Sistema de análisis de datos e Inteligencia Artificial para rendimiento deportivo</a:t>
            </a:r>
            <a:endParaRPr b="0" i="0" sz="1500" u="none" cap="none" strike="noStrike">
              <a:solidFill>
                <a:schemeClr val="dk1"/>
              </a:solidFill>
              <a:latin typeface="Arial"/>
              <a:ea typeface="Arial"/>
              <a:cs typeface="Arial"/>
              <a:sym typeface="Arial"/>
            </a:endParaRPr>
          </a:p>
        </p:txBody>
      </p:sp>
      <p:sp>
        <p:nvSpPr>
          <p:cNvPr id="23" name="Google Shape;23;p3"/>
          <p:cNvSpPr/>
          <p:nvPr/>
        </p:nvSpPr>
        <p:spPr>
          <a:xfrm>
            <a:off x="6400800" y="1051560"/>
            <a:ext cx="4251960" cy="3840480"/>
          </a:xfrm>
          <a:prstGeom prst="roundRect">
            <a:avLst>
              <a:gd fmla="val 3810" name="adj"/>
            </a:avLst>
          </a:prstGeom>
          <a:solidFill>
            <a:srgbClr val="102A20"/>
          </a:solidFill>
          <a:ln cap="flat" cmpd="sng" w="12700">
            <a:solidFill>
              <a:srgbClr val="1E4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6784848" y="1481328"/>
            <a:ext cx="35204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CSV → Limpieza → Dashboard → IA</a:t>
            </a:r>
            <a:endParaRPr b="0" i="0" sz="1700" u="none" cap="none" strike="noStrike">
              <a:solidFill>
                <a:schemeClr val="dk1"/>
              </a:solidFill>
              <a:latin typeface="Arial"/>
              <a:ea typeface="Arial"/>
              <a:cs typeface="Arial"/>
              <a:sym typeface="Arial"/>
            </a:endParaRPr>
          </a:p>
        </p:txBody>
      </p:sp>
      <p:sp>
        <p:nvSpPr>
          <p:cNvPr id="25" name="Google Shape;25;p3"/>
          <p:cNvSpPr/>
          <p:nvPr/>
        </p:nvSpPr>
        <p:spPr>
          <a:xfrm>
            <a:off x="6995160" y="2139696"/>
            <a:ext cx="1005840"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7068312" y="2221992"/>
            <a:ext cx="8595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Pandas</a:t>
            </a:r>
            <a:endParaRPr b="0" i="0" sz="820" u="none" cap="none" strike="noStrike">
              <a:solidFill>
                <a:schemeClr val="dk1"/>
              </a:solidFill>
              <a:latin typeface="Arial"/>
              <a:ea typeface="Arial"/>
              <a:cs typeface="Arial"/>
              <a:sym typeface="Arial"/>
            </a:endParaRPr>
          </a:p>
        </p:txBody>
      </p:sp>
      <p:sp>
        <p:nvSpPr>
          <p:cNvPr id="27" name="Google Shape;27;p3"/>
          <p:cNvSpPr/>
          <p:nvPr/>
        </p:nvSpPr>
        <p:spPr>
          <a:xfrm>
            <a:off x="8156448" y="2139696"/>
            <a:ext cx="1207008"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8229600" y="2221992"/>
            <a:ext cx="1060704"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Streamlit</a:t>
            </a:r>
            <a:endParaRPr b="0" i="0" sz="820" u="none" cap="none" strike="noStrike">
              <a:solidFill>
                <a:schemeClr val="dk1"/>
              </a:solidFill>
              <a:latin typeface="Arial"/>
              <a:ea typeface="Arial"/>
              <a:cs typeface="Arial"/>
              <a:sym typeface="Arial"/>
            </a:endParaRPr>
          </a:p>
        </p:txBody>
      </p:sp>
      <p:sp>
        <p:nvSpPr>
          <p:cNvPr id="29" name="Google Shape;29;p3"/>
          <p:cNvSpPr/>
          <p:nvPr/>
        </p:nvSpPr>
        <p:spPr>
          <a:xfrm>
            <a:off x="9509760" y="2139696"/>
            <a:ext cx="1005840"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9582912" y="2221992"/>
            <a:ext cx="8595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Random Forest</a:t>
            </a:r>
            <a:endParaRPr b="0" i="0" sz="820" u="none" cap="none" strike="noStrike">
              <a:solidFill>
                <a:schemeClr val="dk1"/>
              </a:solidFill>
              <a:latin typeface="Arial"/>
              <a:ea typeface="Arial"/>
              <a:cs typeface="Arial"/>
              <a:sym typeface="Arial"/>
            </a:endParaRPr>
          </a:p>
        </p:txBody>
      </p:sp>
      <p:sp>
        <p:nvSpPr>
          <p:cNvPr id="31" name="Google Shape;31;p3"/>
          <p:cNvSpPr/>
          <p:nvPr/>
        </p:nvSpPr>
        <p:spPr>
          <a:xfrm>
            <a:off x="7955280" y="2926080"/>
            <a:ext cx="100584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800"/>
              <a:buFont typeface="Arial"/>
              <a:buNone/>
            </a:pPr>
            <a:r>
              <a:rPr b="0" i="0" lang="en-US" sz="3800" u="none" cap="none" strike="noStrike">
                <a:solidFill>
                  <a:srgbClr val="FFFFFF"/>
                </a:solidFill>
                <a:latin typeface="Arial"/>
                <a:ea typeface="Arial"/>
                <a:cs typeface="Arial"/>
                <a:sym typeface="Arial"/>
              </a:rPr>
              <a:t>⚽</a:t>
            </a:r>
            <a:endParaRPr b="0" i="0" sz="3800" u="none" cap="none" strike="noStrike">
              <a:solidFill>
                <a:schemeClr val="dk1"/>
              </a:solidFill>
              <a:latin typeface="Arial"/>
              <a:ea typeface="Arial"/>
              <a:cs typeface="Arial"/>
              <a:sym typeface="Arial"/>
            </a:endParaRPr>
          </a:p>
        </p:txBody>
      </p:sp>
      <p:sp>
        <p:nvSpPr>
          <p:cNvPr id="32" name="Google Shape;32;p3"/>
          <p:cNvSpPr/>
          <p:nvPr/>
        </p:nvSpPr>
        <p:spPr>
          <a:xfrm>
            <a:off x="822960" y="5074920"/>
            <a:ext cx="448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Jorge Salguero Abad</a:t>
            </a:r>
            <a:endParaRPr b="0" i="0" sz="1900" u="none" cap="none" strike="noStrike">
              <a:solidFill>
                <a:schemeClr val="dk1"/>
              </a:solidFill>
              <a:latin typeface="Arial"/>
              <a:ea typeface="Arial"/>
              <a:cs typeface="Arial"/>
              <a:sym typeface="Arial"/>
            </a:endParaRPr>
          </a:p>
        </p:txBody>
      </p:sp>
      <p:sp>
        <p:nvSpPr>
          <p:cNvPr id="33" name="Google Shape;33;p3"/>
          <p:cNvSpPr/>
          <p:nvPr/>
        </p:nvSpPr>
        <p:spPr>
          <a:xfrm>
            <a:off x="822960" y="5440680"/>
            <a:ext cx="44805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F3D0"/>
              </a:buClr>
              <a:buSzPts val="1150"/>
              <a:buFont typeface="Arial"/>
              <a:buNone/>
            </a:pPr>
            <a:r>
              <a:rPr b="0" i="0" lang="en-US" sz="1150" u="none" cap="none" strike="noStrike">
                <a:solidFill>
                  <a:srgbClr val="A7F3D0"/>
                </a:solidFill>
                <a:latin typeface="Arial"/>
                <a:ea typeface="Arial"/>
                <a:cs typeface="Arial"/>
                <a:sym typeface="Arial"/>
              </a:rPr>
              <a:t>Defensa del proyecto · 2025/2026</a:t>
            </a:r>
            <a:endParaRPr b="0" i="0" sz="1150" u="none" cap="none" strike="noStrike">
              <a:solidFill>
                <a:schemeClr val="dk1"/>
              </a:solidFill>
              <a:latin typeface="Arial"/>
              <a:ea typeface="Arial"/>
              <a:cs typeface="Arial"/>
              <a:sym typeface="Arial"/>
            </a:endParaRPr>
          </a:p>
        </p:txBody>
      </p:sp>
      <p:sp>
        <p:nvSpPr>
          <p:cNvPr id="34" name="Google Shape;34;p3"/>
          <p:cNvSpPr/>
          <p:nvPr/>
        </p:nvSpPr>
        <p:spPr>
          <a:xfrm>
            <a:off x="11201400" y="6446520"/>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B942"/>
              </a:buClr>
              <a:buSzPts val="850"/>
              <a:buFont typeface="Arial"/>
              <a:buNone/>
            </a:pPr>
            <a:r>
              <a:rPr b="1" i="0" lang="en-US" sz="850" u="none" cap="none" strike="noStrike">
                <a:solidFill>
                  <a:srgbClr val="F5B942"/>
                </a:solidFill>
                <a:latin typeface="Arial"/>
                <a:ea typeface="Arial"/>
                <a:cs typeface="Arial"/>
                <a:sym typeface="Arial"/>
              </a:rPr>
              <a:t>01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EF"/>
        </a:solidFill>
      </p:bgPr>
    </p:bg>
    <p:spTree>
      <p:nvGrpSpPr>
        <p:cNvPr id="39" name="Shape 39"/>
        <p:cNvGrpSpPr/>
        <p:nvPr/>
      </p:nvGrpSpPr>
      <p:grpSpPr>
        <a:xfrm>
          <a:off x="0" y="0"/>
          <a:ext cx="0" cy="0"/>
          <a:chOff x="0" y="0"/>
          <a:chExt cx="0" cy="0"/>
        </a:xfrm>
      </p:grpSpPr>
      <p:sp>
        <p:nvSpPr>
          <p:cNvPr id="40" name="Google Shape;40;p4"/>
          <p:cNvSpPr/>
          <p:nvPr/>
        </p:nvSpPr>
        <p:spPr>
          <a:xfrm>
            <a:off x="7775" y="0"/>
            <a:ext cx="12191700" cy="6858000"/>
          </a:xfrm>
          <a:prstGeom prst="rect">
            <a:avLst/>
          </a:prstGeom>
          <a:solidFill>
            <a:srgbClr val="FAF7EF"/>
          </a:solidFill>
          <a:ln cap="flat" cmpd="sng" w="12700">
            <a:solidFill>
              <a:srgbClr val="FAF7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1. Idea y problema</a:t>
            </a:r>
            <a:endParaRPr b="0" i="0" sz="2400" u="none" cap="none" strike="noStrike">
              <a:solidFill>
                <a:schemeClr val="dk1"/>
              </a:solidFill>
              <a:latin typeface="Arial"/>
              <a:ea typeface="Arial"/>
              <a:cs typeface="Arial"/>
              <a:sym typeface="Arial"/>
            </a:endParaRPr>
          </a:p>
        </p:txBody>
      </p:sp>
      <p:sp>
        <p:nvSpPr>
          <p:cNvPr id="43" name="Google Shape;43;p4"/>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De archivos CSV separados a una herramienta visual de análisis deportivo</a:t>
            </a:r>
            <a:endParaRPr b="0" i="0" sz="1050" u="none" cap="none" strike="noStrike">
              <a:solidFill>
                <a:schemeClr val="dk1"/>
              </a:solidFill>
              <a:latin typeface="Arial"/>
              <a:ea typeface="Arial"/>
              <a:cs typeface="Arial"/>
              <a:sym typeface="Arial"/>
            </a:endParaRPr>
          </a:p>
        </p:txBody>
      </p:sp>
      <p:cxnSp>
        <p:nvCxnSpPr>
          <p:cNvPr id="44" name="Google Shape;44;p4"/>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45" name="Google Shape;45;p4"/>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46" name="Google Shape;46;p4"/>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02</a:t>
            </a:r>
            <a:endParaRPr b="0" i="0" sz="850" u="none" cap="none" strike="noStrike">
              <a:solidFill>
                <a:schemeClr val="dk1"/>
              </a:solidFill>
              <a:latin typeface="Arial"/>
              <a:ea typeface="Arial"/>
              <a:cs typeface="Arial"/>
              <a:sym typeface="Arial"/>
            </a:endParaRPr>
          </a:p>
        </p:txBody>
      </p:sp>
      <p:sp>
        <p:nvSpPr>
          <p:cNvPr id="47" name="Google Shape;47;p4"/>
          <p:cNvSpPr/>
          <p:nvPr/>
        </p:nvSpPr>
        <p:spPr>
          <a:xfrm>
            <a:off x="731520" y="1508760"/>
            <a:ext cx="3200400" cy="1143000"/>
          </a:xfrm>
          <a:prstGeom prst="roundRect">
            <a:avLst>
              <a:gd fmla="val 9600"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932688" y="1691640"/>
            <a:ext cx="279806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Problema inicial</a:t>
            </a:r>
            <a:endParaRPr b="0" i="0" sz="1320" u="none" cap="none" strike="noStrike">
              <a:solidFill>
                <a:schemeClr val="dk1"/>
              </a:solidFill>
              <a:latin typeface="Arial"/>
              <a:ea typeface="Arial"/>
              <a:cs typeface="Arial"/>
              <a:sym typeface="Arial"/>
            </a:endParaRPr>
          </a:p>
        </p:txBody>
      </p:sp>
      <p:sp>
        <p:nvSpPr>
          <p:cNvPr id="49" name="Google Shape;49;p4"/>
          <p:cNvSpPr/>
          <p:nvPr/>
        </p:nvSpPr>
        <p:spPr>
          <a:xfrm>
            <a:off x="932688" y="2039112"/>
            <a:ext cx="2798064" cy="3931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Los datos de partidos estaban separados por temporada y no eran cómodos de analizar directamente desde CSV.</a:t>
            </a:r>
            <a:endParaRPr b="0" i="0" sz="950" u="none" cap="none" strike="noStrike">
              <a:solidFill>
                <a:schemeClr val="dk1"/>
              </a:solidFill>
              <a:latin typeface="Arial"/>
              <a:ea typeface="Arial"/>
              <a:cs typeface="Arial"/>
              <a:sym typeface="Arial"/>
            </a:endParaRPr>
          </a:p>
        </p:txBody>
      </p:sp>
      <p:sp>
        <p:nvSpPr>
          <p:cNvPr id="50" name="Google Shape;50;p4"/>
          <p:cNvSpPr/>
          <p:nvPr/>
        </p:nvSpPr>
        <p:spPr>
          <a:xfrm>
            <a:off x="4480560" y="1508760"/>
            <a:ext cx="3200400" cy="1143000"/>
          </a:xfrm>
          <a:prstGeom prst="roundRect">
            <a:avLst>
              <a:gd fmla="val 9600"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681728" y="1691640"/>
            <a:ext cx="279806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Solución</a:t>
            </a:r>
            <a:endParaRPr b="0" i="0" sz="1320" u="none" cap="none" strike="noStrike">
              <a:solidFill>
                <a:schemeClr val="dk1"/>
              </a:solidFill>
              <a:latin typeface="Arial"/>
              <a:ea typeface="Arial"/>
              <a:cs typeface="Arial"/>
              <a:sym typeface="Arial"/>
            </a:endParaRPr>
          </a:p>
        </p:txBody>
      </p:sp>
      <p:sp>
        <p:nvSpPr>
          <p:cNvPr id="52" name="Google Shape;52;p4"/>
          <p:cNvSpPr/>
          <p:nvPr/>
        </p:nvSpPr>
        <p:spPr>
          <a:xfrm>
            <a:off x="4681728" y="2039112"/>
            <a:ext cx="2798064" cy="3931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Crear un dashboard con Streamlit para consultar clasificaciones, gráficos, comparaciones y predicciones desde una misma pantalla.</a:t>
            </a:r>
            <a:endParaRPr b="0" i="0" sz="950" u="none" cap="none" strike="noStrike">
              <a:solidFill>
                <a:schemeClr val="dk1"/>
              </a:solidFill>
              <a:latin typeface="Arial"/>
              <a:ea typeface="Arial"/>
              <a:cs typeface="Arial"/>
              <a:sym typeface="Arial"/>
            </a:endParaRPr>
          </a:p>
        </p:txBody>
      </p:sp>
      <p:sp>
        <p:nvSpPr>
          <p:cNvPr id="53" name="Google Shape;53;p4"/>
          <p:cNvSpPr/>
          <p:nvPr/>
        </p:nvSpPr>
        <p:spPr>
          <a:xfrm>
            <a:off x="8229600" y="1508760"/>
            <a:ext cx="3200400" cy="1143000"/>
          </a:xfrm>
          <a:prstGeom prst="roundRect">
            <a:avLst>
              <a:gd fmla="val 9600"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8430768" y="1691640"/>
            <a:ext cx="279806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Valor del proyecto</a:t>
            </a:r>
            <a:endParaRPr b="0" i="0" sz="1320" u="none" cap="none" strike="noStrike">
              <a:solidFill>
                <a:schemeClr val="dk1"/>
              </a:solidFill>
              <a:latin typeface="Arial"/>
              <a:ea typeface="Arial"/>
              <a:cs typeface="Arial"/>
              <a:sym typeface="Arial"/>
            </a:endParaRPr>
          </a:p>
        </p:txBody>
      </p:sp>
      <p:sp>
        <p:nvSpPr>
          <p:cNvPr id="55" name="Google Shape;55;p4"/>
          <p:cNvSpPr/>
          <p:nvPr/>
        </p:nvSpPr>
        <p:spPr>
          <a:xfrm>
            <a:off x="8430768" y="2039112"/>
            <a:ext cx="2798064" cy="3931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Combina datos reales, análisis con Pandas, visualización, POO, testing y un modelo básico de Machine Learning.</a:t>
            </a:r>
            <a:endParaRPr b="0" i="0" sz="950" u="none" cap="none" strike="noStrike">
              <a:solidFill>
                <a:schemeClr val="dk1"/>
              </a:solidFill>
              <a:latin typeface="Arial"/>
              <a:ea typeface="Arial"/>
              <a:cs typeface="Arial"/>
              <a:sym typeface="Arial"/>
            </a:endParaRPr>
          </a:p>
        </p:txBody>
      </p:sp>
      <p:sp>
        <p:nvSpPr>
          <p:cNvPr id="56" name="Google Shape;56;p4"/>
          <p:cNvSpPr/>
          <p:nvPr/>
        </p:nvSpPr>
        <p:spPr>
          <a:xfrm>
            <a:off x="3611880" y="3840480"/>
            <a:ext cx="640080" cy="640080"/>
          </a:xfrm>
          <a:prstGeom prst="chevron">
            <a:avLst>
              <a:gd fmla="val 50000" name="adj"/>
            </a:avLst>
          </a:prstGeom>
          <a:solidFill>
            <a:srgbClr val="F5B942"/>
          </a:solidFill>
          <a:ln cap="flat" cmpd="sng" w="12700">
            <a:solidFill>
              <a:srgbClr val="F5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7360920" y="3840480"/>
            <a:ext cx="640080" cy="640080"/>
          </a:xfrm>
          <a:prstGeom prst="chevron">
            <a:avLst>
              <a:gd fmla="val 50000" name="adj"/>
            </a:avLst>
          </a:prstGeom>
          <a:solidFill>
            <a:srgbClr val="F5B942"/>
          </a:solidFill>
          <a:ln cap="flat" cmpd="sng" w="12700">
            <a:solidFill>
              <a:srgbClr val="F5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4800600" y="3246120"/>
            <a:ext cx="2606040" cy="2103120"/>
          </a:xfrm>
          <a:prstGeom prst="roundRect">
            <a:avLst>
              <a:gd fmla="val 5217"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983480" y="3410712"/>
            <a:ext cx="2240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Captura recomendada</a:t>
            </a:r>
            <a:endParaRPr b="0" i="0" sz="1280" u="none" cap="none" strike="noStrike">
              <a:solidFill>
                <a:schemeClr val="dk1"/>
              </a:solidFill>
              <a:latin typeface="Arial"/>
              <a:ea typeface="Arial"/>
              <a:cs typeface="Arial"/>
              <a:sym typeface="Arial"/>
            </a:endParaRPr>
          </a:p>
        </p:txBody>
      </p:sp>
      <p:sp>
        <p:nvSpPr>
          <p:cNvPr id="60" name="Google Shape;60;p4"/>
          <p:cNvSpPr/>
          <p:nvPr/>
        </p:nvSpPr>
        <p:spPr>
          <a:xfrm>
            <a:off x="4983480" y="3776472"/>
            <a:ext cx="2240280" cy="13716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Captura de la tabla de clasificación dentro de Streamlit.</a:t>
            </a:r>
            <a:endParaRPr b="0" i="0" sz="910" u="none" cap="none" strike="noStrike">
              <a:solidFill>
                <a:schemeClr val="dk1"/>
              </a:solidFill>
              <a:latin typeface="Arial"/>
              <a:ea typeface="Arial"/>
              <a:cs typeface="Arial"/>
              <a:sym typeface="Arial"/>
            </a:endParaRPr>
          </a:p>
        </p:txBody>
      </p:sp>
      <p:pic>
        <p:nvPicPr>
          <p:cNvPr id="61" name="Google Shape;61;p4"/>
          <p:cNvPicPr preferRelativeResize="0"/>
          <p:nvPr/>
        </p:nvPicPr>
        <p:blipFill>
          <a:blip r:embed="rId3">
            <a:alphaModFix/>
          </a:blip>
          <a:stretch>
            <a:fillRect/>
          </a:stretch>
        </p:blipFill>
        <p:spPr>
          <a:xfrm>
            <a:off x="2016020" y="2814700"/>
            <a:ext cx="7766980" cy="3468862"/>
          </a:xfrm>
          <a:prstGeom prst="rect">
            <a:avLst/>
          </a:prstGeom>
          <a:solidFill>
            <a:srgbClr val="FAF7EF"/>
          </a:solidFill>
          <a:ln cap="flat" cmpd="sng" w="12700">
            <a:solidFill>
              <a:srgbClr val="FAF7EF"/>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5"/>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2. Dataset y preparación</a:t>
            </a:r>
            <a:endParaRPr b="0" i="0" sz="2400" u="none" cap="none" strike="noStrike">
              <a:solidFill>
                <a:schemeClr val="dk1"/>
              </a:solidFill>
              <a:latin typeface="Arial"/>
              <a:ea typeface="Arial"/>
              <a:cs typeface="Arial"/>
              <a:sym typeface="Arial"/>
            </a:endParaRPr>
          </a:p>
        </p:txBody>
      </p:sp>
      <p:sp>
        <p:nvSpPr>
          <p:cNvPr id="70" name="Google Shape;70;p5"/>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Selección, limpieza y unión de temporadas</a:t>
            </a:r>
            <a:endParaRPr b="0" i="0" sz="1050" u="none" cap="none" strike="noStrike">
              <a:solidFill>
                <a:schemeClr val="dk1"/>
              </a:solidFill>
              <a:latin typeface="Arial"/>
              <a:ea typeface="Arial"/>
              <a:cs typeface="Arial"/>
              <a:sym typeface="Arial"/>
            </a:endParaRPr>
          </a:p>
        </p:txBody>
      </p:sp>
      <p:cxnSp>
        <p:nvCxnSpPr>
          <p:cNvPr id="71" name="Google Shape;71;p5"/>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72" name="Google Shape;72;p5"/>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73" name="Google Shape;73;p5"/>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03</a:t>
            </a:r>
            <a:endParaRPr b="0" i="0" sz="850" u="none" cap="none" strike="noStrike">
              <a:solidFill>
                <a:schemeClr val="dk1"/>
              </a:solidFill>
              <a:latin typeface="Arial"/>
              <a:ea typeface="Arial"/>
              <a:cs typeface="Arial"/>
              <a:sym typeface="Arial"/>
            </a:endParaRPr>
          </a:p>
        </p:txBody>
      </p:sp>
      <p:sp>
        <p:nvSpPr>
          <p:cNvPr id="74" name="Google Shape;74;p5"/>
          <p:cNvSpPr/>
          <p:nvPr/>
        </p:nvSpPr>
        <p:spPr>
          <a:xfrm>
            <a:off x="658368" y="1572768"/>
            <a:ext cx="2212848" cy="1051560"/>
          </a:xfrm>
          <a:prstGeom prst="roundRect">
            <a:avLst>
              <a:gd fmla="val 10435"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59536" y="1755648"/>
            <a:ext cx="18105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CSV originales</a:t>
            </a:r>
            <a:endParaRPr b="0" i="0" sz="1320" u="none" cap="none" strike="noStrike">
              <a:solidFill>
                <a:schemeClr val="dk1"/>
              </a:solidFill>
              <a:latin typeface="Arial"/>
              <a:ea typeface="Arial"/>
              <a:cs typeface="Arial"/>
              <a:sym typeface="Arial"/>
            </a:endParaRPr>
          </a:p>
        </p:txBody>
      </p:sp>
      <p:sp>
        <p:nvSpPr>
          <p:cNvPr id="76" name="Google Shape;76;p5"/>
          <p:cNvSpPr/>
          <p:nvPr/>
        </p:nvSpPr>
        <p:spPr>
          <a:xfrm>
            <a:off x="859536" y="2103120"/>
            <a:ext cx="1810512" cy="301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Football-Data</a:t>
            </a:r>
            <a:endParaRPr b="0" i="0" sz="95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2020-2021 a 2025-2026</a:t>
            </a:r>
            <a:endParaRPr b="0" i="0" sz="950" u="none" cap="none" strike="noStrike">
              <a:solidFill>
                <a:schemeClr val="dk1"/>
              </a:solidFill>
              <a:latin typeface="Arial"/>
              <a:ea typeface="Arial"/>
              <a:cs typeface="Arial"/>
              <a:sym typeface="Arial"/>
            </a:endParaRPr>
          </a:p>
        </p:txBody>
      </p:sp>
      <p:cxnSp>
        <p:nvCxnSpPr>
          <p:cNvPr id="77" name="Google Shape;77;p5"/>
          <p:cNvCxnSpPr/>
          <p:nvPr/>
        </p:nvCxnSpPr>
        <p:spPr>
          <a:xfrm>
            <a:off x="2944368" y="2103120"/>
            <a:ext cx="411480" cy="0"/>
          </a:xfrm>
          <a:prstGeom prst="straightConnector1">
            <a:avLst/>
          </a:prstGeom>
          <a:noFill/>
          <a:ln cap="flat" cmpd="sng" w="22850">
            <a:solidFill>
              <a:srgbClr val="0F9F6E"/>
            </a:solidFill>
            <a:prstDash val="solid"/>
            <a:round/>
            <a:headEnd len="sm" w="sm" type="none"/>
            <a:tailEnd len="med" w="med" type="triangle"/>
          </a:ln>
        </p:spPr>
      </p:cxnSp>
      <p:sp>
        <p:nvSpPr>
          <p:cNvPr id="78" name="Google Shape;78;p5"/>
          <p:cNvSpPr/>
          <p:nvPr/>
        </p:nvSpPr>
        <p:spPr>
          <a:xfrm>
            <a:off x="3511296" y="1572768"/>
            <a:ext cx="2212848" cy="1051560"/>
          </a:xfrm>
          <a:prstGeom prst="roundRect">
            <a:avLst>
              <a:gd fmla="val 10435"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3712464" y="1755648"/>
            <a:ext cx="18105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Selección</a:t>
            </a:r>
            <a:endParaRPr b="0" i="0" sz="1320" u="none" cap="none" strike="noStrike">
              <a:solidFill>
                <a:schemeClr val="dk1"/>
              </a:solidFill>
              <a:latin typeface="Arial"/>
              <a:ea typeface="Arial"/>
              <a:cs typeface="Arial"/>
              <a:sym typeface="Arial"/>
            </a:endParaRPr>
          </a:p>
        </p:txBody>
      </p:sp>
      <p:sp>
        <p:nvSpPr>
          <p:cNvPr id="80" name="Google Shape;80;p5"/>
          <p:cNvSpPr/>
          <p:nvPr/>
        </p:nvSpPr>
        <p:spPr>
          <a:xfrm>
            <a:off x="3712464" y="2103120"/>
            <a:ext cx="1810512" cy="301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Fecha, equipos, goles, tiros y tarjetas</a:t>
            </a:r>
            <a:endParaRPr b="0" i="0" sz="950" u="none" cap="none" strike="noStrike">
              <a:solidFill>
                <a:schemeClr val="dk1"/>
              </a:solidFill>
              <a:latin typeface="Arial"/>
              <a:ea typeface="Arial"/>
              <a:cs typeface="Arial"/>
              <a:sym typeface="Arial"/>
            </a:endParaRPr>
          </a:p>
        </p:txBody>
      </p:sp>
      <p:cxnSp>
        <p:nvCxnSpPr>
          <p:cNvPr id="81" name="Google Shape;81;p5"/>
          <p:cNvCxnSpPr/>
          <p:nvPr/>
        </p:nvCxnSpPr>
        <p:spPr>
          <a:xfrm>
            <a:off x="5797296" y="2103120"/>
            <a:ext cx="411480" cy="0"/>
          </a:xfrm>
          <a:prstGeom prst="straightConnector1">
            <a:avLst/>
          </a:prstGeom>
          <a:noFill/>
          <a:ln cap="flat" cmpd="sng" w="22850">
            <a:solidFill>
              <a:srgbClr val="0F9F6E"/>
            </a:solidFill>
            <a:prstDash val="solid"/>
            <a:round/>
            <a:headEnd len="sm" w="sm" type="none"/>
            <a:tailEnd len="med" w="med" type="triangle"/>
          </a:ln>
        </p:spPr>
      </p:cxnSp>
      <p:sp>
        <p:nvSpPr>
          <p:cNvPr id="82" name="Google Shape;82;p5"/>
          <p:cNvSpPr/>
          <p:nvPr/>
        </p:nvSpPr>
        <p:spPr>
          <a:xfrm>
            <a:off x="6364224" y="1572768"/>
            <a:ext cx="2212848" cy="1051560"/>
          </a:xfrm>
          <a:prstGeom prst="roundRect">
            <a:avLst>
              <a:gd fmla="val 10435"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6565392" y="1755648"/>
            <a:ext cx="18105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Limpieza</a:t>
            </a:r>
            <a:endParaRPr b="0" i="0" sz="1320" u="none" cap="none" strike="noStrike">
              <a:solidFill>
                <a:schemeClr val="dk1"/>
              </a:solidFill>
              <a:latin typeface="Arial"/>
              <a:ea typeface="Arial"/>
              <a:cs typeface="Arial"/>
              <a:sym typeface="Arial"/>
            </a:endParaRPr>
          </a:p>
        </p:txBody>
      </p:sp>
      <p:sp>
        <p:nvSpPr>
          <p:cNvPr id="84" name="Google Shape;84;p5"/>
          <p:cNvSpPr/>
          <p:nvPr/>
        </p:nvSpPr>
        <p:spPr>
          <a:xfrm>
            <a:off x="6565392" y="2103120"/>
            <a:ext cx="1810512" cy="301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Renombrado, nulos, fechas y tipos</a:t>
            </a:r>
            <a:endParaRPr b="0" i="0" sz="950" u="none" cap="none" strike="noStrike">
              <a:solidFill>
                <a:schemeClr val="dk1"/>
              </a:solidFill>
              <a:latin typeface="Arial"/>
              <a:ea typeface="Arial"/>
              <a:cs typeface="Arial"/>
              <a:sym typeface="Arial"/>
            </a:endParaRPr>
          </a:p>
        </p:txBody>
      </p:sp>
      <p:cxnSp>
        <p:nvCxnSpPr>
          <p:cNvPr id="85" name="Google Shape;85;p5"/>
          <p:cNvCxnSpPr/>
          <p:nvPr/>
        </p:nvCxnSpPr>
        <p:spPr>
          <a:xfrm>
            <a:off x="8650224" y="2103120"/>
            <a:ext cx="411480" cy="0"/>
          </a:xfrm>
          <a:prstGeom prst="straightConnector1">
            <a:avLst/>
          </a:prstGeom>
          <a:noFill/>
          <a:ln cap="flat" cmpd="sng" w="22850">
            <a:solidFill>
              <a:srgbClr val="0F9F6E"/>
            </a:solidFill>
            <a:prstDash val="solid"/>
            <a:round/>
            <a:headEnd len="sm" w="sm" type="none"/>
            <a:tailEnd len="med" w="med" type="triangle"/>
          </a:ln>
        </p:spPr>
      </p:cxnSp>
      <p:sp>
        <p:nvSpPr>
          <p:cNvPr id="86" name="Google Shape;86;p5"/>
          <p:cNvSpPr/>
          <p:nvPr/>
        </p:nvSpPr>
        <p:spPr>
          <a:xfrm>
            <a:off x="9217152" y="1572768"/>
            <a:ext cx="2212848" cy="1051560"/>
          </a:xfrm>
          <a:prstGeom prst="roundRect">
            <a:avLst>
              <a:gd fmla="val 10435"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9418320" y="1755648"/>
            <a:ext cx="18105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Dataset final</a:t>
            </a:r>
            <a:endParaRPr b="0" i="0" sz="1320" u="none" cap="none" strike="noStrike">
              <a:solidFill>
                <a:schemeClr val="dk1"/>
              </a:solidFill>
              <a:latin typeface="Arial"/>
              <a:ea typeface="Arial"/>
              <a:cs typeface="Arial"/>
              <a:sym typeface="Arial"/>
            </a:endParaRPr>
          </a:p>
        </p:txBody>
      </p:sp>
      <p:sp>
        <p:nvSpPr>
          <p:cNvPr id="88" name="Google Shape;88;p5"/>
          <p:cNvSpPr/>
          <p:nvPr/>
        </p:nvSpPr>
        <p:spPr>
          <a:xfrm>
            <a:off x="9418320" y="2103120"/>
            <a:ext cx="1810512" cy="3017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data/laliga_clean.csv</a:t>
            </a:r>
            <a:endParaRPr b="0" i="0" sz="950" u="none" cap="none" strike="noStrike">
              <a:solidFill>
                <a:schemeClr val="dk1"/>
              </a:solidFill>
              <a:latin typeface="Arial"/>
              <a:ea typeface="Arial"/>
              <a:cs typeface="Arial"/>
              <a:sym typeface="Arial"/>
            </a:endParaRPr>
          </a:p>
        </p:txBody>
      </p:sp>
      <p:sp>
        <p:nvSpPr>
          <p:cNvPr id="89" name="Google Shape;89;p5"/>
          <p:cNvSpPr/>
          <p:nvPr/>
        </p:nvSpPr>
        <p:spPr>
          <a:xfrm>
            <a:off x="777240" y="329184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50"/>
              <a:buFont typeface="Arial"/>
              <a:buNone/>
            </a:pPr>
            <a:r>
              <a:rPr b="1" i="0" lang="en-US" sz="1550" u="none" cap="none" strike="noStrike">
                <a:solidFill>
                  <a:srgbClr val="111827"/>
                </a:solidFill>
                <a:latin typeface="Arial"/>
                <a:ea typeface="Arial"/>
                <a:cs typeface="Arial"/>
                <a:sym typeface="Arial"/>
              </a:rPr>
              <a:t>Columnas principales</a:t>
            </a:r>
            <a:endParaRPr b="0" i="0" sz="1550" u="none" cap="none" strike="noStrike">
              <a:solidFill>
                <a:schemeClr val="dk1"/>
              </a:solidFill>
              <a:latin typeface="Arial"/>
              <a:ea typeface="Arial"/>
              <a:cs typeface="Arial"/>
              <a:sym typeface="Arial"/>
            </a:endParaRPr>
          </a:p>
        </p:txBody>
      </p:sp>
      <p:sp>
        <p:nvSpPr>
          <p:cNvPr id="90" name="Google Shape;90;p5"/>
          <p:cNvSpPr/>
          <p:nvPr/>
        </p:nvSpPr>
        <p:spPr>
          <a:xfrm>
            <a:off x="777240" y="3703320"/>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850392" y="3785616"/>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fecha</a:t>
            </a:r>
            <a:endParaRPr b="0" i="0" sz="820" u="none" cap="none" strike="noStrike">
              <a:solidFill>
                <a:schemeClr val="dk1"/>
              </a:solidFill>
              <a:latin typeface="Arial"/>
              <a:ea typeface="Arial"/>
              <a:cs typeface="Arial"/>
              <a:sym typeface="Arial"/>
            </a:endParaRPr>
          </a:p>
        </p:txBody>
      </p:sp>
      <p:sp>
        <p:nvSpPr>
          <p:cNvPr id="92" name="Google Shape;92;p5"/>
          <p:cNvSpPr/>
          <p:nvPr/>
        </p:nvSpPr>
        <p:spPr>
          <a:xfrm>
            <a:off x="2697480" y="3703320"/>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2770632" y="3785616"/>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local</a:t>
            </a:r>
            <a:endParaRPr b="0" i="0" sz="820" u="none" cap="none" strike="noStrike">
              <a:solidFill>
                <a:schemeClr val="dk1"/>
              </a:solidFill>
              <a:latin typeface="Arial"/>
              <a:ea typeface="Arial"/>
              <a:cs typeface="Arial"/>
              <a:sym typeface="Arial"/>
            </a:endParaRPr>
          </a:p>
        </p:txBody>
      </p:sp>
      <p:sp>
        <p:nvSpPr>
          <p:cNvPr id="94" name="Google Shape;94;p5"/>
          <p:cNvSpPr/>
          <p:nvPr/>
        </p:nvSpPr>
        <p:spPr>
          <a:xfrm>
            <a:off x="4617720" y="3703320"/>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4690872" y="3785616"/>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visitante</a:t>
            </a:r>
            <a:endParaRPr b="0" i="0" sz="820" u="none" cap="none" strike="noStrike">
              <a:solidFill>
                <a:schemeClr val="dk1"/>
              </a:solidFill>
              <a:latin typeface="Arial"/>
              <a:ea typeface="Arial"/>
              <a:cs typeface="Arial"/>
              <a:sym typeface="Arial"/>
            </a:endParaRPr>
          </a:p>
        </p:txBody>
      </p:sp>
      <p:sp>
        <p:nvSpPr>
          <p:cNvPr id="96" name="Google Shape;96;p5"/>
          <p:cNvSpPr/>
          <p:nvPr/>
        </p:nvSpPr>
        <p:spPr>
          <a:xfrm>
            <a:off x="6537960" y="3703320"/>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6611112" y="3785616"/>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goles_local</a:t>
            </a:r>
            <a:endParaRPr b="0" i="0" sz="820" u="none" cap="none" strike="noStrike">
              <a:solidFill>
                <a:schemeClr val="dk1"/>
              </a:solidFill>
              <a:latin typeface="Arial"/>
              <a:ea typeface="Arial"/>
              <a:cs typeface="Arial"/>
              <a:sym typeface="Arial"/>
            </a:endParaRPr>
          </a:p>
        </p:txBody>
      </p:sp>
      <p:sp>
        <p:nvSpPr>
          <p:cNvPr id="98" name="Google Shape;98;p5"/>
          <p:cNvSpPr/>
          <p:nvPr/>
        </p:nvSpPr>
        <p:spPr>
          <a:xfrm>
            <a:off x="777240" y="4197096"/>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850392" y="4279392"/>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goles_visitante</a:t>
            </a:r>
            <a:endParaRPr b="0" i="0" sz="820" u="none" cap="none" strike="noStrike">
              <a:solidFill>
                <a:schemeClr val="dk1"/>
              </a:solidFill>
              <a:latin typeface="Arial"/>
              <a:ea typeface="Arial"/>
              <a:cs typeface="Arial"/>
              <a:sym typeface="Arial"/>
            </a:endParaRPr>
          </a:p>
        </p:txBody>
      </p:sp>
      <p:sp>
        <p:nvSpPr>
          <p:cNvPr id="100" name="Google Shape;100;p5"/>
          <p:cNvSpPr/>
          <p:nvPr/>
        </p:nvSpPr>
        <p:spPr>
          <a:xfrm>
            <a:off x="2697480" y="4197096"/>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2770632" y="4279392"/>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tiros_local</a:t>
            </a:r>
            <a:endParaRPr b="0" i="0" sz="820" u="none" cap="none" strike="noStrike">
              <a:solidFill>
                <a:schemeClr val="dk1"/>
              </a:solidFill>
              <a:latin typeface="Arial"/>
              <a:ea typeface="Arial"/>
              <a:cs typeface="Arial"/>
              <a:sym typeface="Arial"/>
            </a:endParaRPr>
          </a:p>
        </p:txBody>
      </p:sp>
      <p:sp>
        <p:nvSpPr>
          <p:cNvPr id="102" name="Google Shape;102;p5"/>
          <p:cNvSpPr/>
          <p:nvPr/>
        </p:nvSpPr>
        <p:spPr>
          <a:xfrm>
            <a:off x="4617720" y="4197096"/>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4690872" y="4279392"/>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tiros_visitante</a:t>
            </a:r>
            <a:endParaRPr b="0" i="0" sz="820" u="none" cap="none" strike="noStrike">
              <a:solidFill>
                <a:schemeClr val="dk1"/>
              </a:solidFill>
              <a:latin typeface="Arial"/>
              <a:ea typeface="Arial"/>
              <a:cs typeface="Arial"/>
              <a:sym typeface="Arial"/>
            </a:endParaRPr>
          </a:p>
        </p:txBody>
      </p:sp>
      <p:sp>
        <p:nvSpPr>
          <p:cNvPr id="104" name="Google Shape;104;p5"/>
          <p:cNvSpPr/>
          <p:nvPr/>
        </p:nvSpPr>
        <p:spPr>
          <a:xfrm>
            <a:off x="6537960" y="4197096"/>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6611112" y="4279392"/>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tiros_puerta_local</a:t>
            </a:r>
            <a:endParaRPr b="0" i="0" sz="820" u="none" cap="none" strike="noStrike">
              <a:solidFill>
                <a:schemeClr val="dk1"/>
              </a:solidFill>
              <a:latin typeface="Arial"/>
              <a:ea typeface="Arial"/>
              <a:cs typeface="Arial"/>
              <a:sym typeface="Arial"/>
            </a:endParaRPr>
          </a:p>
        </p:txBody>
      </p:sp>
      <p:sp>
        <p:nvSpPr>
          <p:cNvPr id="106" name="Google Shape;106;p5"/>
          <p:cNvSpPr/>
          <p:nvPr/>
        </p:nvSpPr>
        <p:spPr>
          <a:xfrm>
            <a:off x="777240" y="4690872"/>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850392" y="4773168"/>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tiros_puerta_visitante</a:t>
            </a:r>
            <a:endParaRPr b="0" i="0" sz="820" u="none" cap="none" strike="noStrike">
              <a:solidFill>
                <a:schemeClr val="dk1"/>
              </a:solidFill>
              <a:latin typeface="Arial"/>
              <a:ea typeface="Arial"/>
              <a:cs typeface="Arial"/>
              <a:sym typeface="Arial"/>
            </a:endParaRPr>
          </a:p>
        </p:txBody>
      </p:sp>
      <p:sp>
        <p:nvSpPr>
          <p:cNvPr id="108" name="Google Shape;108;p5"/>
          <p:cNvSpPr/>
          <p:nvPr/>
        </p:nvSpPr>
        <p:spPr>
          <a:xfrm>
            <a:off x="2697480" y="4690872"/>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2770632" y="4773168"/>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amarillas_local</a:t>
            </a:r>
            <a:endParaRPr b="0" i="0" sz="820" u="none" cap="none" strike="noStrike">
              <a:solidFill>
                <a:schemeClr val="dk1"/>
              </a:solidFill>
              <a:latin typeface="Arial"/>
              <a:ea typeface="Arial"/>
              <a:cs typeface="Arial"/>
              <a:sym typeface="Arial"/>
            </a:endParaRPr>
          </a:p>
        </p:txBody>
      </p:sp>
      <p:sp>
        <p:nvSpPr>
          <p:cNvPr id="110" name="Google Shape;110;p5"/>
          <p:cNvSpPr/>
          <p:nvPr/>
        </p:nvSpPr>
        <p:spPr>
          <a:xfrm>
            <a:off x="4617720" y="4690872"/>
            <a:ext cx="1627632"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4690872" y="4773168"/>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amarillas_visitante</a:t>
            </a:r>
            <a:endParaRPr b="0" i="0" sz="820" u="none" cap="none" strike="noStrike">
              <a:solidFill>
                <a:schemeClr val="dk1"/>
              </a:solidFill>
              <a:latin typeface="Arial"/>
              <a:ea typeface="Arial"/>
              <a:cs typeface="Arial"/>
              <a:sym typeface="Arial"/>
            </a:endParaRPr>
          </a:p>
        </p:txBody>
      </p:sp>
      <p:sp>
        <p:nvSpPr>
          <p:cNvPr id="112" name="Google Shape;112;p5"/>
          <p:cNvSpPr/>
          <p:nvPr/>
        </p:nvSpPr>
        <p:spPr>
          <a:xfrm>
            <a:off x="6537960" y="4690872"/>
            <a:ext cx="1627632"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6611112" y="4773168"/>
            <a:ext cx="1481328"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temporada</a:t>
            </a:r>
            <a:endParaRPr b="0" i="0" sz="820" u="none" cap="none" strike="noStrike">
              <a:solidFill>
                <a:schemeClr val="dk1"/>
              </a:solidFill>
              <a:latin typeface="Arial"/>
              <a:ea typeface="Arial"/>
              <a:cs typeface="Arial"/>
              <a:sym typeface="Arial"/>
            </a:endParaRPr>
          </a:p>
        </p:txBody>
      </p:sp>
      <p:sp>
        <p:nvSpPr>
          <p:cNvPr id="114" name="Google Shape;114;p5"/>
          <p:cNvSpPr/>
          <p:nvPr/>
        </p:nvSpPr>
        <p:spPr>
          <a:xfrm>
            <a:off x="8641080" y="3429000"/>
            <a:ext cx="2697480" cy="2103120"/>
          </a:xfrm>
          <a:prstGeom prst="roundRect">
            <a:avLst>
              <a:gd fmla="val 5217"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823960" y="359359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Evidencia visual</a:t>
            </a:r>
            <a:endParaRPr b="0" i="0" sz="1280" u="none" cap="none" strike="noStrike">
              <a:solidFill>
                <a:schemeClr val="dk1"/>
              </a:solidFill>
              <a:latin typeface="Arial"/>
              <a:ea typeface="Arial"/>
              <a:cs typeface="Arial"/>
              <a:sym typeface="Arial"/>
            </a:endParaRPr>
          </a:p>
        </p:txBody>
      </p:sp>
      <p:sp>
        <p:nvSpPr>
          <p:cNvPr id="116" name="Google Shape;116;p5"/>
          <p:cNvSpPr/>
          <p:nvPr/>
        </p:nvSpPr>
        <p:spPr>
          <a:xfrm>
            <a:off x="8823960" y="3959352"/>
            <a:ext cx="2331720" cy="13716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Captura del CSV limpio en VS Code o Excel mostrando las columnas.</a:t>
            </a:r>
            <a:endParaRPr b="0" i="0" sz="910" u="none" cap="none" strike="noStrike">
              <a:solidFill>
                <a:schemeClr val="dk1"/>
              </a:solidFill>
              <a:latin typeface="Arial"/>
              <a:ea typeface="Arial"/>
              <a:cs typeface="Arial"/>
              <a:sym typeface="Arial"/>
            </a:endParaRPr>
          </a:p>
        </p:txBody>
      </p:sp>
      <p:pic>
        <p:nvPicPr>
          <p:cNvPr id="117" name="Google Shape;117;p5"/>
          <p:cNvPicPr preferRelativeResize="0"/>
          <p:nvPr/>
        </p:nvPicPr>
        <p:blipFill>
          <a:blip r:embed="rId3">
            <a:alphaModFix/>
          </a:blip>
          <a:stretch>
            <a:fillRect/>
          </a:stretch>
        </p:blipFill>
        <p:spPr>
          <a:xfrm>
            <a:off x="8444525" y="3429000"/>
            <a:ext cx="3395451" cy="2205650"/>
          </a:xfrm>
          <a:prstGeom prst="rect">
            <a:avLst/>
          </a:prstGeom>
          <a:solidFill>
            <a:srgbClr val="FFFFFF"/>
          </a:solidFill>
          <a:ln cap="flat" cmpd="sng" w="12700">
            <a:solidFill>
              <a:srgbClr val="FFFFFF"/>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EF"/>
        </a:solidFill>
      </p:bgPr>
    </p:bg>
    <p:spTree>
      <p:nvGrpSpPr>
        <p:cNvPr id="122" name="Shape 122"/>
        <p:cNvGrpSpPr/>
        <p:nvPr/>
      </p:nvGrpSpPr>
      <p:grpSpPr>
        <a:xfrm>
          <a:off x="0" y="0"/>
          <a:ext cx="0" cy="0"/>
          <a:chOff x="0" y="0"/>
          <a:chExt cx="0" cy="0"/>
        </a:xfrm>
      </p:grpSpPr>
      <p:sp>
        <p:nvSpPr>
          <p:cNvPr id="123" name="Google Shape;123;p6"/>
          <p:cNvSpPr/>
          <p:nvPr/>
        </p:nvSpPr>
        <p:spPr>
          <a:xfrm>
            <a:off x="0" y="0"/>
            <a:ext cx="12191695" cy="6858000"/>
          </a:xfrm>
          <a:prstGeom prst="rect">
            <a:avLst/>
          </a:prstGeom>
          <a:solidFill>
            <a:srgbClr val="FAF7EF"/>
          </a:solidFill>
          <a:ln cap="flat" cmpd="sng" w="12700">
            <a:solidFill>
              <a:srgbClr val="FAF7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3. Arquitectura y POO</a:t>
            </a:r>
            <a:endParaRPr b="0" i="0" sz="2400" u="none" cap="none" strike="noStrike">
              <a:solidFill>
                <a:schemeClr val="dk1"/>
              </a:solidFill>
              <a:latin typeface="Arial"/>
              <a:ea typeface="Arial"/>
              <a:cs typeface="Arial"/>
              <a:sym typeface="Arial"/>
            </a:endParaRPr>
          </a:p>
        </p:txBody>
      </p:sp>
      <p:sp>
        <p:nvSpPr>
          <p:cNvPr id="126" name="Google Shape;126;p6"/>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Clases, herencia, encapsulamiento y diagrama UML</a:t>
            </a:r>
            <a:endParaRPr b="0" i="0" sz="1050" u="none" cap="none" strike="noStrike">
              <a:solidFill>
                <a:schemeClr val="dk1"/>
              </a:solidFill>
              <a:latin typeface="Arial"/>
              <a:ea typeface="Arial"/>
              <a:cs typeface="Arial"/>
              <a:sym typeface="Arial"/>
            </a:endParaRPr>
          </a:p>
        </p:txBody>
      </p:sp>
      <p:cxnSp>
        <p:nvCxnSpPr>
          <p:cNvPr id="127" name="Google Shape;127;p6"/>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128" name="Google Shape;128;p6"/>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129" name="Google Shape;129;p6"/>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04</a:t>
            </a:r>
            <a:endParaRPr b="0" i="0" sz="850" u="none" cap="none" strike="noStrike">
              <a:solidFill>
                <a:schemeClr val="dk1"/>
              </a:solidFill>
              <a:latin typeface="Arial"/>
              <a:ea typeface="Arial"/>
              <a:cs typeface="Arial"/>
              <a:sym typeface="Arial"/>
            </a:endParaRPr>
          </a:p>
        </p:txBody>
      </p:sp>
      <p:sp>
        <p:nvSpPr>
          <p:cNvPr id="130" name="Google Shape;130;p6"/>
          <p:cNvSpPr/>
          <p:nvPr/>
        </p:nvSpPr>
        <p:spPr>
          <a:xfrm>
            <a:off x="685800" y="1417320"/>
            <a:ext cx="4800600" cy="4297680"/>
          </a:xfrm>
          <a:prstGeom prst="roundRect">
            <a:avLst>
              <a:gd fmla="val 2553"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868680" y="1581912"/>
            <a:ext cx="4434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Diagrama UML</a:t>
            </a:r>
            <a:endParaRPr b="0" i="0" sz="1280" u="none" cap="none" strike="noStrike">
              <a:solidFill>
                <a:schemeClr val="dk1"/>
              </a:solidFill>
              <a:latin typeface="Arial"/>
              <a:ea typeface="Arial"/>
              <a:cs typeface="Arial"/>
              <a:sym typeface="Arial"/>
            </a:endParaRPr>
          </a:p>
        </p:txBody>
      </p:sp>
      <p:sp>
        <p:nvSpPr>
          <p:cNvPr id="132" name="Google Shape;132;p6"/>
          <p:cNvSpPr/>
          <p:nvPr/>
        </p:nvSpPr>
        <p:spPr>
          <a:xfrm>
            <a:off x="868680" y="1947672"/>
            <a:ext cx="4434840" cy="356616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Inserta aquí docs/uml_diagram.png.</a:t>
            </a:r>
            <a:endParaRPr b="0" i="0" sz="910" u="none" cap="none" strike="noStrike">
              <a:solidFill>
                <a:schemeClr val="dk1"/>
              </a:solidFill>
              <a:latin typeface="Arial"/>
              <a:ea typeface="Arial"/>
              <a:cs typeface="Arial"/>
              <a:sym typeface="Arial"/>
            </a:endParaRPr>
          </a:p>
        </p:txBody>
      </p:sp>
      <p:sp>
        <p:nvSpPr>
          <p:cNvPr id="133" name="Google Shape;133;p6"/>
          <p:cNvSpPr/>
          <p:nvPr/>
        </p:nvSpPr>
        <p:spPr>
          <a:xfrm>
            <a:off x="5806440" y="146304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Clases principales</a:t>
            </a:r>
            <a:endParaRPr b="0" i="0" sz="1600" u="none" cap="none" strike="noStrike">
              <a:solidFill>
                <a:schemeClr val="dk1"/>
              </a:solidFill>
              <a:latin typeface="Arial"/>
              <a:ea typeface="Arial"/>
              <a:cs typeface="Arial"/>
              <a:sym typeface="Arial"/>
            </a:endParaRPr>
          </a:p>
        </p:txBody>
      </p:sp>
      <p:sp>
        <p:nvSpPr>
          <p:cNvPr id="134" name="Google Shape;134;p6"/>
          <p:cNvSpPr/>
          <p:nvPr/>
        </p:nvSpPr>
        <p:spPr>
          <a:xfrm>
            <a:off x="5852160" y="192938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6071616" y="187452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DataManager: carga y guardado de datasets</a:t>
            </a:r>
            <a:endParaRPr b="0" i="0" sz="1230" u="none" cap="none" strike="noStrike">
              <a:solidFill>
                <a:schemeClr val="dk1"/>
              </a:solidFill>
              <a:latin typeface="Arial"/>
              <a:ea typeface="Arial"/>
              <a:cs typeface="Arial"/>
              <a:sym typeface="Arial"/>
            </a:endParaRPr>
          </a:p>
        </p:txBody>
      </p:sp>
      <p:sp>
        <p:nvSpPr>
          <p:cNvPr id="136" name="Google Shape;136;p6"/>
          <p:cNvSpPr/>
          <p:nvPr/>
        </p:nvSpPr>
        <p:spPr>
          <a:xfrm>
            <a:off x="5852160" y="229514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6071616" y="224028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LaLigaDataManager: validación y limpieza</a:t>
            </a:r>
            <a:endParaRPr b="0" i="0" sz="1230" u="none" cap="none" strike="noStrike">
              <a:solidFill>
                <a:schemeClr val="dk1"/>
              </a:solidFill>
              <a:latin typeface="Arial"/>
              <a:ea typeface="Arial"/>
              <a:cs typeface="Arial"/>
              <a:sym typeface="Arial"/>
            </a:endParaRPr>
          </a:p>
        </p:txBody>
      </p:sp>
      <p:sp>
        <p:nvSpPr>
          <p:cNvPr id="138" name="Google Shape;138;p6"/>
          <p:cNvSpPr/>
          <p:nvPr/>
        </p:nvSpPr>
        <p:spPr>
          <a:xfrm>
            <a:off x="5852160" y="266090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6071616" y="260604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BaseAnalyzer y LaLigaAnalyzer: análisis deportivo</a:t>
            </a:r>
            <a:endParaRPr b="0" i="0" sz="1230" u="none" cap="none" strike="noStrike">
              <a:solidFill>
                <a:schemeClr val="dk1"/>
              </a:solidFill>
              <a:latin typeface="Arial"/>
              <a:ea typeface="Arial"/>
              <a:cs typeface="Arial"/>
              <a:sym typeface="Arial"/>
            </a:endParaRPr>
          </a:p>
        </p:txBody>
      </p:sp>
      <p:sp>
        <p:nvSpPr>
          <p:cNvPr id="140" name="Google Shape;140;p6"/>
          <p:cNvSpPr/>
          <p:nvPr/>
        </p:nvSpPr>
        <p:spPr>
          <a:xfrm>
            <a:off x="5852160" y="302666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6071616" y="2971800"/>
            <a:ext cx="48463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MatchPredictor: modelo Random Forest</a:t>
            </a:r>
            <a:endParaRPr b="0" i="0" sz="1230" u="none" cap="none" strike="noStrike">
              <a:solidFill>
                <a:schemeClr val="dk1"/>
              </a:solidFill>
              <a:latin typeface="Arial"/>
              <a:ea typeface="Arial"/>
              <a:cs typeface="Arial"/>
              <a:sym typeface="Arial"/>
            </a:endParaRPr>
          </a:p>
        </p:txBody>
      </p:sp>
      <p:sp>
        <p:nvSpPr>
          <p:cNvPr id="142" name="Google Shape;142;p6"/>
          <p:cNvSpPr/>
          <p:nvPr/>
        </p:nvSpPr>
        <p:spPr>
          <a:xfrm>
            <a:off x="5806440" y="3794760"/>
            <a:ext cx="4937760" cy="1005840"/>
          </a:xfrm>
          <a:prstGeom prst="roundRect">
            <a:avLst>
              <a:gd fmla="val 10909"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007608" y="3977640"/>
            <a:ext cx="45354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Encapsulamiento</a:t>
            </a:r>
            <a:endParaRPr b="0" i="0" sz="1320" u="none" cap="none" strike="noStrike">
              <a:solidFill>
                <a:schemeClr val="dk1"/>
              </a:solidFill>
              <a:latin typeface="Arial"/>
              <a:ea typeface="Arial"/>
              <a:cs typeface="Arial"/>
              <a:sym typeface="Arial"/>
            </a:endParaRPr>
          </a:p>
        </p:txBody>
      </p:sp>
      <p:sp>
        <p:nvSpPr>
          <p:cNvPr id="144" name="Google Shape;144;p6"/>
          <p:cNvSpPr/>
          <p:nvPr/>
        </p:nvSpPr>
        <p:spPr>
          <a:xfrm>
            <a:off x="6007608" y="4325112"/>
            <a:ext cx="4535424" cy="256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Uso de atributos privados como _df, _data_path, _model y _accuracy para separar responsabilidades.</a:t>
            </a:r>
            <a:endParaRPr b="0" i="0" sz="950" u="none" cap="none" strike="noStrike">
              <a:solidFill>
                <a:schemeClr val="dk1"/>
              </a:solidFill>
              <a:latin typeface="Arial"/>
              <a:ea typeface="Arial"/>
              <a:cs typeface="Arial"/>
              <a:sym typeface="Arial"/>
            </a:endParaRPr>
          </a:p>
        </p:txBody>
      </p:sp>
      <p:sp>
        <p:nvSpPr>
          <p:cNvPr id="145" name="Google Shape;145;p6"/>
          <p:cNvSpPr/>
          <p:nvPr/>
        </p:nvSpPr>
        <p:spPr>
          <a:xfrm>
            <a:off x="5806440" y="4983480"/>
            <a:ext cx="4937760" cy="777240"/>
          </a:xfrm>
          <a:prstGeom prst="roundRect">
            <a:avLst>
              <a:gd fmla="val 14118" name="adj"/>
            </a:avLst>
          </a:prstGeom>
          <a:solidFill>
            <a:srgbClr val="FFFFF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6007608" y="5166360"/>
            <a:ext cx="453542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Herencia</a:t>
            </a:r>
            <a:endParaRPr b="0" i="0" sz="1320" u="none" cap="none" strike="noStrike">
              <a:solidFill>
                <a:schemeClr val="dk1"/>
              </a:solidFill>
              <a:latin typeface="Arial"/>
              <a:ea typeface="Arial"/>
              <a:cs typeface="Arial"/>
              <a:sym typeface="Arial"/>
            </a:endParaRPr>
          </a:p>
        </p:txBody>
      </p:sp>
      <p:sp>
        <p:nvSpPr>
          <p:cNvPr id="147" name="Google Shape;147;p6"/>
          <p:cNvSpPr/>
          <p:nvPr/>
        </p:nvSpPr>
        <p:spPr>
          <a:xfrm>
            <a:off x="6007608" y="5513832"/>
            <a:ext cx="4535424" cy="274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LaLigaDataManager hereda de DataManager y LaLigaAnalyzer hereda de BaseAnalyzer.</a:t>
            </a:r>
            <a:endParaRPr b="0" i="0" sz="950" u="none" cap="none" strike="noStrike">
              <a:solidFill>
                <a:schemeClr val="dk1"/>
              </a:solidFill>
              <a:latin typeface="Arial"/>
              <a:ea typeface="Arial"/>
              <a:cs typeface="Arial"/>
              <a:sym typeface="Arial"/>
            </a:endParaRPr>
          </a:p>
        </p:txBody>
      </p:sp>
      <p:pic>
        <p:nvPicPr>
          <p:cNvPr id="148" name="Google Shape;148;p6" title="Diagrama_UML.png"/>
          <p:cNvPicPr preferRelativeResize="0"/>
          <p:nvPr/>
        </p:nvPicPr>
        <p:blipFill>
          <a:blip r:embed="rId3">
            <a:alphaModFix/>
          </a:blip>
          <a:stretch>
            <a:fillRect/>
          </a:stretch>
        </p:blipFill>
        <p:spPr>
          <a:xfrm>
            <a:off x="548625" y="1215050"/>
            <a:ext cx="5041170" cy="5295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7"/>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4. Dashboard en Streamlit</a:t>
            </a:r>
            <a:endParaRPr b="0" i="0" sz="2400" u="none" cap="none" strike="noStrike">
              <a:solidFill>
                <a:schemeClr val="dk1"/>
              </a:solidFill>
              <a:latin typeface="Arial"/>
              <a:ea typeface="Arial"/>
              <a:cs typeface="Arial"/>
              <a:sym typeface="Arial"/>
            </a:endParaRPr>
          </a:p>
        </p:txBody>
      </p:sp>
      <p:sp>
        <p:nvSpPr>
          <p:cNvPr id="157" name="Google Shape;157;p7"/>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Interfaz visual para explorar los datos sin modificar código</a:t>
            </a:r>
            <a:endParaRPr b="0" i="0" sz="1050" u="none" cap="none" strike="noStrike">
              <a:solidFill>
                <a:schemeClr val="dk1"/>
              </a:solidFill>
              <a:latin typeface="Arial"/>
              <a:ea typeface="Arial"/>
              <a:cs typeface="Arial"/>
              <a:sym typeface="Arial"/>
            </a:endParaRPr>
          </a:p>
        </p:txBody>
      </p:sp>
      <p:cxnSp>
        <p:nvCxnSpPr>
          <p:cNvPr id="158" name="Google Shape;158;p7"/>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159" name="Google Shape;159;p7"/>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160" name="Google Shape;160;p7"/>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05</a:t>
            </a:r>
            <a:endParaRPr b="0" i="0" sz="850" u="none" cap="none" strike="noStrike">
              <a:solidFill>
                <a:schemeClr val="dk1"/>
              </a:solidFill>
              <a:latin typeface="Arial"/>
              <a:ea typeface="Arial"/>
              <a:cs typeface="Arial"/>
              <a:sym typeface="Arial"/>
            </a:endParaRPr>
          </a:p>
        </p:txBody>
      </p:sp>
      <p:sp>
        <p:nvSpPr>
          <p:cNvPr id="161" name="Google Shape;161;p7"/>
          <p:cNvSpPr/>
          <p:nvPr/>
        </p:nvSpPr>
        <p:spPr>
          <a:xfrm>
            <a:off x="685800" y="1417320"/>
            <a:ext cx="6492240" cy="4251960"/>
          </a:xfrm>
          <a:prstGeom prst="roundRect">
            <a:avLst>
              <a:gd fmla="val 2581"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868680" y="1581912"/>
            <a:ext cx="6126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Captura principal del dashboard</a:t>
            </a:r>
            <a:endParaRPr b="0" i="0" sz="1280" u="none" cap="none" strike="noStrike">
              <a:solidFill>
                <a:schemeClr val="dk1"/>
              </a:solidFill>
              <a:latin typeface="Arial"/>
              <a:ea typeface="Arial"/>
              <a:cs typeface="Arial"/>
              <a:sym typeface="Arial"/>
            </a:endParaRPr>
          </a:p>
        </p:txBody>
      </p:sp>
      <p:sp>
        <p:nvSpPr>
          <p:cNvPr id="163" name="Google Shape;163;p7"/>
          <p:cNvSpPr/>
          <p:nvPr/>
        </p:nvSpPr>
        <p:spPr>
          <a:xfrm>
            <a:off x="868680" y="1947672"/>
            <a:ext cx="6126480" cy="352044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Inserta captura con selector de temporada, métricas y tabla de clasificación.</a:t>
            </a:r>
            <a:endParaRPr b="0" i="0" sz="910" u="none" cap="none" strike="noStrike">
              <a:solidFill>
                <a:schemeClr val="dk1"/>
              </a:solidFill>
              <a:latin typeface="Arial"/>
              <a:ea typeface="Arial"/>
              <a:cs typeface="Arial"/>
              <a:sym typeface="Arial"/>
            </a:endParaRPr>
          </a:p>
        </p:txBody>
      </p:sp>
      <p:sp>
        <p:nvSpPr>
          <p:cNvPr id="164" name="Google Shape;164;p7"/>
          <p:cNvSpPr/>
          <p:nvPr/>
        </p:nvSpPr>
        <p:spPr>
          <a:xfrm>
            <a:off x="7543800" y="146304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Funcionalidades</a:t>
            </a:r>
            <a:endParaRPr b="0" i="0" sz="1600" u="none" cap="none" strike="noStrike">
              <a:solidFill>
                <a:schemeClr val="dk1"/>
              </a:solidFill>
              <a:latin typeface="Arial"/>
              <a:ea typeface="Arial"/>
              <a:cs typeface="Arial"/>
              <a:sym typeface="Arial"/>
            </a:endParaRPr>
          </a:p>
        </p:txBody>
      </p:sp>
      <p:sp>
        <p:nvSpPr>
          <p:cNvPr id="165" name="Google Shape;165;p7"/>
          <p:cNvSpPr/>
          <p:nvPr/>
        </p:nvSpPr>
        <p:spPr>
          <a:xfrm>
            <a:off x="7589520" y="192938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7808976" y="1874520"/>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Selector de temporada</a:t>
            </a:r>
            <a:endParaRPr b="0" i="0" sz="1230" u="none" cap="none" strike="noStrike">
              <a:solidFill>
                <a:schemeClr val="dk1"/>
              </a:solidFill>
              <a:latin typeface="Arial"/>
              <a:ea typeface="Arial"/>
              <a:cs typeface="Arial"/>
              <a:sym typeface="Arial"/>
            </a:endParaRPr>
          </a:p>
        </p:txBody>
      </p:sp>
      <p:sp>
        <p:nvSpPr>
          <p:cNvPr id="167" name="Google Shape;167;p7"/>
          <p:cNvSpPr/>
          <p:nvPr/>
        </p:nvSpPr>
        <p:spPr>
          <a:xfrm>
            <a:off x="7589520" y="227685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7808976" y="2221992"/>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Métricas generales</a:t>
            </a:r>
            <a:endParaRPr b="0" i="0" sz="1230" u="none" cap="none" strike="noStrike">
              <a:solidFill>
                <a:schemeClr val="dk1"/>
              </a:solidFill>
              <a:latin typeface="Arial"/>
              <a:ea typeface="Arial"/>
              <a:cs typeface="Arial"/>
              <a:sym typeface="Arial"/>
            </a:endParaRPr>
          </a:p>
        </p:txBody>
      </p:sp>
      <p:sp>
        <p:nvSpPr>
          <p:cNvPr id="169" name="Google Shape;169;p7"/>
          <p:cNvSpPr/>
          <p:nvPr/>
        </p:nvSpPr>
        <p:spPr>
          <a:xfrm>
            <a:off x="7589520" y="2624328"/>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7808976" y="2569464"/>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Tabla de clasificación</a:t>
            </a:r>
            <a:endParaRPr b="0" i="0" sz="1230" u="none" cap="none" strike="noStrike">
              <a:solidFill>
                <a:schemeClr val="dk1"/>
              </a:solidFill>
              <a:latin typeface="Arial"/>
              <a:ea typeface="Arial"/>
              <a:cs typeface="Arial"/>
              <a:sym typeface="Arial"/>
            </a:endParaRPr>
          </a:p>
        </p:txBody>
      </p:sp>
      <p:sp>
        <p:nvSpPr>
          <p:cNvPr id="171" name="Google Shape;171;p7"/>
          <p:cNvSpPr/>
          <p:nvPr/>
        </p:nvSpPr>
        <p:spPr>
          <a:xfrm>
            <a:off x="7589520" y="2971800"/>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7808976" y="2916936"/>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Gráficos de puntos, goles y defensa</a:t>
            </a:r>
            <a:endParaRPr b="0" i="0" sz="1230" u="none" cap="none" strike="noStrike">
              <a:solidFill>
                <a:schemeClr val="dk1"/>
              </a:solidFill>
              <a:latin typeface="Arial"/>
              <a:ea typeface="Arial"/>
              <a:cs typeface="Arial"/>
              <a:sym typeface="Arial"/>
            </a:endParaRPr>
          </a:p>
        </p:txBody>
      </p:sp>
      <p:sp>
        <p:nvSpPr>
          <p:cNvPr id="173" name="Google Shape;173;p7"/>
          <p:cNvSpPr/>
          <p:nvPr/>
        </p:nvSpPr>
        <p:spPr>
          <a:xfrm>
            <a:off x="7589520" y="3319272"/>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7808976" y="3264408"/>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Comparador de equipos</a:t>
            </a:r>
            <a:endParaRPr b="0" i="0" sz="1230" u="none" cap="none" strike="noStrike">
              <a:solidFill>
                <a:schemeClr val="dk1"/>
              </a:solidFill>
              <a:latin typeface="Arial"/>
              <a:ea typeface="Arial"/>
              <a:cs typeface="Arial"/>
              <a:sym typeface="Arial"/>
            </a:endParaRPr>
          </a:p>
        </p:txBody>
      </p:sp>
      <p:sp>
        <p:nvSpPr>
          <p:cNvPr id="175" name="Google Shape;175;p7"/>
          <p:cNvSpPr/>
          <p:nvPr/>
        </p:nvSpPr>
        <p:spPr>
          <a:xfrm>
            <a:off x="7589520" y="366674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7808976" y="3611880"/>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Predicción con IA</a:t>
            </a:r>
            <a:endParaRPr b="0" i="0" sz="1230" u="none" cap="none" strike="noStrike">
              <a:solidFill>
                <a:schemeClr val="dk1"/>
              </a:solidFill>
              <a:latin typeface="Arial"/>
              <a:ea typeface="Arial"/>
              <a:cs typeface="Arial"/>
              <a:sym typeface="Arial"/>
            </a:endParaRPr>
          </a:p>
        </p:txBody>
      </p:sp>
      <p:sp>
        <p:nvSpPr>
          <p:cNvPr id="177" name="Google Shape;177;p7"/>
          <p:cNvSpPr/>
          <p:nvPr/>
        </p:nvSpPr>
        <p:spPr>
          <a:xfrm>
            <a:off x="7543800" y="4251960"/>
            <a:ext cx="3291840" cy="1005840"/>
          </a:xfrm>
          <a:prstGeom prst="roundRect">
            <a:avLst>
              <a:gd fmla="val 10909"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7744968" y="4434840"/>
            <a:ext cx="28895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Mejora visual</a:t>
            </a:r>
            <a:endParaRPr b="0" i="0" sz="1320" u="none" cap="none" strike="noStrike">
              <a:solidFill>
                <a:schemeClr val="dk1"/>
              </a:solidFill>
              <a:latin typeface="Arial"/>
              <a:ea typeface="Arial"/>
              <a:cs typeface="Arial"/>
              <a:sym typeface="Arial"/>
            </a:endParaRPr>
          </a:p>
        </p:txBody>
      </p:sp>
      <p:sp>
        <p:nvSpPr>
          <p:cNvPr id="179" name="Google Shape;179;p7"/>
          <p:cNvSpPr/>
          <p:nvPr/>
        </p:nvSpPr>
        <p:spPr>
          <a:xfrm>
            <a:off x="7744968" y="4782312"/>
            <a:ext cx="2889504" cy="256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Se ajustó el tamaño de los gráficos para que el dashboard fuese más cómodo de utilizar.</a:t>
            </a:r>
            <a:endParaRPr b="0" i="0" sz="950" u="none" cap="none" strike="noStrike">
              <a:solidFill>
                <a:schemeClr val="dk1"/>
              </a:solidFill>
              <a:latin typeface="Arial"/>
              <a:ea typeface="Arial"/>
              <a:cs typeface="Arial"/>
              <a:sym typeface="Arial"/>
            </a:endParaRPr>
          </a:p>
        </p:txBody>
      </p:sp>
      <p:pic>
        <p:nvPicPr>
          <p:cNvPr id="180" name="Google Shape;180;p7"/>
          <p:cNvPicPr preferRelativeResize="0"/>
          <p:nvPr/>
        </p:nvPicPr>
        <p:blipFill>
          <a:blip r:embed="rId3">
            <a:alphaModFix/>
          </a:blip>
          <a:stretch>
            <a:fillRect/>
          </a:stretch>
        </p:blipFill>
        <p:spPr>
          <a:xfrm>
            <a:off x="685800" y="1828988"/>
            <a:ext cx="6492252" cy="3675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EF"/>
        </a:solidFill>
      </p:bgPr>
    </p:bg>
    <p:spTree>
      <p:nvGrpSpPr>
        <p:cNvPr id="185" name="Shape 185"/>
        <p:cNvGrpSpPr/>
        <p:nvPr/>
      </p:nvGrpSpPr>
      <p:grpSpPr>
        <a:xfrm>
          <a:off x="0" y="0"/>
          <a:ext cx="0" cy="0"/>
          <a:chOff x="0" y="0"/>
          <a:chExt cx="0" cy="0"/>
        </a:xfrm>
      </p:grpSpPr>
      <p:sp>
        <p:nvSpPr>
          <p:cNvPr id="186" name="Google Shape;186;p8"/>
          <p:cNvSpPr/>
          <p:nvPr/>
        </p:nvSpPr>
        <p:spPr>
          <a:xfrm>
            <a:off x="0" y="0"/>
            <a:ext cx="12191695" cy="6858000"/>
          </a:xfrm>
          <a:prstGeom prst="rect">
            <a:avLst/>
          </a:prstGeom>
          <a:solidFill>
            <a:srgbClr val="FAF7EF"/>
          </a:solidFill>
          <a:ln cap="flat" cmpd="sng" w="12700">
            <a:solidFill>
              <a:srgbClr val="FAF7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5. Resultados del análisis</a:t>
            </a:r>
            <a:endParaRPr b="0" i="0" sz="2400" u="none" cap="none" strike="noStrike">
              <a:solidFill>
                <a:schemeClr val="dk1"/>
              </a:solidFill>
              <a:latin typeface="Arial"/>
              <a:ea typeface="Arial"/>
              <a:cs typeface="Arial"/>
              <a:sym typeface="Arial"/>
            </a:endParaRPr>
          </a:p>
        </p:txBody>
      </p:sp>
      <p:sp>
        <p:nvSpPr>
          <p:cNvPr id="189" name="Google Shape;189;p8"/>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Métricas deportivas calculadas con Pandas</a:t>
            </a:r>
            <a:endParaRPr b="0" i="0" sz="1050" u="none" cap="none" strike="noStrike">
              <a:solidFill>
                <a:schemeClr val="dk1"/>
              </a:solidFill>
              <a:latin typeface="Arial"/>
              <a:ea typeface="Arial"/>
              <a:cs typeface="Arial"/>
              <a:sym typeface="Arial"/>
            </a:endParaRPr>
          </a:p>
        </p:txBody>
      </p:sp>
      <p:cxnSp>
        <p:nvCxnSpPr>
          <p:cNvPr id="190" name="Google Shape;190;p8"/>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191" name="Google Shape;191;p8"/>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192" name="Google Shape;192;p8"/>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06</a:t>
            </a:r>
            <a:endParaRPr b="0" i="0" sz="850" u="none" cap="none" strike="noStrike">
              <a:solidFill>
                <a:schemeClr val="dk1"/>
              </a:solidFill>
              <a:latin typeface="Arial"/>
              <a:ea typeface="Arial"/>
              <a:cs typeface="Arial"/>
              <a:sym typeface="Arial"/>
            </a:endParaRPr>
          </a:p>
        </p:txBody>
      </p:sp>
      <p:pic>
        <p:nvPicPr>
          <p:cNvPr id="193" name="Google Shape;193;p8"/>
          <p:cNvPicPr preferRelativeResize="0"/>
          <p:nvPr/>
        </p:nvPicPr>
        <p:blipFill rotWithShape="1">
          <a:blip r:embed="rId3">
            <a:alphaModFix/>
          </a:blip>
          <a:srcRect b="0" l="0" r="0" t="0"/>
          <a:stretch/>
        </p:blipFill>
        <p:spPr>
          <a:xfrm>
            <a:off x="731520" y="1508760"/>
            <a:ext cx="5166360" cy="3154680"/>
          </a:xfrm>
          <a:prstGeom prst="rect">
            <a:avLst/>
          </a:prstGeom>
          <a:noFill/>
          <a:ln>
            <a:noFill/>
          </a:ln>
        </p:spPr>
      </p:pic>
      <p:sp>
        <p:nvSpPr>
          <p:cNvPr id="194" name="Google Shape;194;p8"/>
          <p:cNvSpPr/>
          <p:nvPr/>
        </p:nvSpPr>
        <p:spPr>
          <a:xfrm>
            <a:off x="1051560" y="4773168"/>
            <a:ext cx="44805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200"/>
              <a:buFont typeface="Arial"/>
              <a:buNone/>
            </a:pPr>
            <a:r>
              <a:rPr b="1" i="0" lang="en-US" sz="1200" u="none" cap="none" strike="noStrike">
                <a:solidFill>
                  <a:srgbClr val="111827"/>
                </a:solidFill>
                <a:latin typeface="Arial"/>
                <a:ea typeface="Arial"/>
                <a:cs typeface="Arial"/>
                <a:sym typeface="Arial"/>
              </a:rPr>
              <a:t>Top acumulado por puntos</a:t>
            </a:r>
            <a:endParaRPr b="0" i="0" sz="1200" u="none" cap="none" strike="noStrike">
              <a:solidFill>
                <a:schemeClr val="dk1"/>
              </a:solidFill>
              <a:latin typeface="Arial"/>
              <a:ea typeface="Arial"/>
              <a:cs typeface="Arial"/>
              <a:sym typeface="Arial"/>
            </a:endParaRPr>
          </a:p>
        </p:txBody>
      </p:sp>
      <p:sp>
        <p:nvSpPr>
          <p:cNvPr id="195" name="Google Shape;195;p8"/>
          <p:cNvSpPr/>
          <p:nvPr/>
        </p:nvSpPr>
        <p:spPr>
          <a:xfrm>
            <a:off x="6400800" y="155448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Conclusiones</a:t>
            </a:r>
            <a:endParaRPr b="0" i="0" sz="1600" u="none" cap="none" strike="noStrike">
              <a:solidFill>
                <a:schemeClr val="dk1"/>
              </a:solidFill>
              <a:latin typeface="Arial"/>
              <a:ea typeface="Arial"/>
              <a:cs typeface="Arial"/>
              <a:sym typeface="Arial"/>
            </a:endParaRPr>
          </a:p>
        </p:txBody>
      </p:sp>
      <p:sp>
        <p:nvSpPr>
          <p:cNvPr id="196" name="Google Shape;196;p8"/>
          <p:cNvSpPr/>
          <p:nvPr/>
        </p:nvSpPr>
        <p:spPr>
          <a:xfrm>
            <a:off x="6446520" y="204825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6665976" y="1993392"/>
            <a:ext cx="47548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Los equipos más regulares mantienen diferencia de goles positiva.</a:t>
            </a:r>
            <a:endParaRPr b="0" i="0" sz="1230" u="none" cap="none" strike="noStrike">
              <a:solidFill>
                <a:schemeClr val="dk1"/>
              </a:solidFill>
              <a:latin typeface="Arial"/>
              <a:ea typeface="Arial"/>
              <a:cs typeface="Arial"/>
              <a:sym typeface="Arial"/>
            </a:endParaRPr>
          </a:p>
        </p:txBody>
      </p:sp>
      <p:sp>
        <p:nvSpPr>
          <p:cNvPr id="198" name="Google Shape;198;p8"/>
          <p:cNvSpPr/>
          <p:nvPr/>
        </p:nvSpPr>
        <p:spPr>
          <a:xfrm>
            <a:off x="6446520" y="250545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6665976" y="2450592"/>
            <a:ext cx="47548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Conviene separar rendimiento ofensivo y defensivo.</a:t>
            </a:r>
            <a:endParaRPr b="0" i="0" sz="1230" u="none" cap="none" strike="noStrike">
              <a:solidFill>
                <a:schemeClr val="dk1"/>
              </a:solidFill>
              <a:latin typeface="Arial"/>
              <a:ea typeface="Arial"/>
              <a:cs typeface="Arial"/>
              <a:sym typeface="Arial"/>
            </a:endParaRPr>
          </a:p>
        </p:txBody>
      </p:sp>
      <p:sp>
        <p:nvSpPr>
          <p:cNvPr id="200" name="Google Shape;200;p8"/>
          <p:cNvSpPr/>
          <p:nvPr/>
        </p:nvSpPr>
        <p:spPr>
          <a:xfrm>
            <a:off x="6446520" y="296265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6665976" y="2907792"/>
            <a:ext cx="47548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El filtro por temporada permite comparar evolución.</a:t>
            </a:r>
            <a:endParaRPr b="0" i="0" sz="1230" u="none" cap="none" strike="noStrike">
              <a:solidFill>
                <a:schemeClr val="dk1"/>
              </a:solidFill>
              <a:latin typeface="Arial"/>
              <a:ea typeface="Arial"/>
              <a:cs typeface="Arial"/>
              <a:sym typeface="Arial"/>
            </a:endParaRPr>
          </a:p>
        </p:txBody>
      </p:sp>
      <p:sp>
        <p:nvSpPr>
          <p:cNvPr id="202" name="Google Shape;202;p8"/>
          <p:cNvSpPr/>
          <p:nvPr/>
        </p:nvSpPr>
        <p:spPr>
          <a:xfrm>
            <a:off x="6446520" y="3794760"/>
            <a:ext cx="4434840" cy="1417320"/>
          </a:xfrm>
          <a:prstGeom prst="roundRect">
            <a:avLst>
              <a:gd fmla="val 7742"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6629400" y="3959352"/>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Captura opcional</a:t>
            </a:r>
            <a:endParaRPr b="0" i="0" sz="1280" u="none" cap="none" strike="noStrike">
              <a:solidFill>
                <a:schemeClr val="dk1"/>
              </a:solidFill>
              <a:latin typeface="Arial"/>
              <a:ea typeface="Arial"/>
              <a:cs typeface="Arial"/>
              <a:sym typeface="Arial"/>
            </a:endParaRPr>
          </a:p>
        </p:txBody>
      </p:sp>
      <p:sp>
        <p:nvSpPr>
          <p:cNvPr id="204" name="Google Shape;204;p8"/>
          <p:cNvSpPr/>
          <p:nvPr/>
        </p:nvSpPr>
        <p:spPr>
          <a:xfrm>
            <a:off x="6629400" y="4325112"/>
            <a:ext cx="4069080" cy="68580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Captura del Top 10 por puntos o del comparador de equipos.</a:t>
            </a:r>
            <a:endParaRPr b="0" i="0" sz="910" u="none" cap="none" strike="noStrike">
              <a:solidFill>
                <a:schemeClr val="dk1"/>
              </a:solidFill>
              <a:latin typeface="Arial"/>
              <a:ea typeface="Arial"/>
              <a:cs typeface="Arial"/>
              <a:sym typeface="Arial"/>
            </a:endParaRPr>
          </a:p>
        </p:txBody>
      </p:sp>
      <p:pic>
        <p:nvPicPr>
          <p:cNvPr id="205" name="Google Shape;205;p8"/>
          <p:cNvPicPr preferRelativeResize="0"/>
          <p:nvPr/>
        </p:nvPicPr>
        <p:blipFill>
          <a:blip r:embed="rId4">
            <a:alphaModFix/>
          </a:blip>
          <a:stretch>
            <a:fillRect/>
          </a:stretch>
        </p:blipFill>
        <p:spPr>
          <a:xfrm>
            <a:off x="6446518" y="3715500"/>
            <a:ext cx="4480574" cy="2987049"/>
          </a:xfrm>
          <a:prstGeom prst="rect">
            <a:avLst/>
          </a:prstGeom>
          <a:solidFill>
            <a:srgbClr val="FAF7EF"/>
          </a:solidFill>
          <a:ln cap="flat" cmpd="sng" w="12700">
            <a:solidFill>
              <a:srgbClr val="FAF7EF"/>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9"/>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6. Modelo de Inteligencia Artificial</a:t>
            </a:r>
            <a:endParaRPr b="0" i="0" sz="2400" u="none" cap="none" strike="noStrike">
              <a:solidFill>
                <a:schemeClr val="dk1"/>
              </a:solidFill>
              <a:latin typeface="Arial"/>
              <a:ea typeface="Arial"/>
              <a:cs typeface="Arial"/>
              <a:sym typeface="Arial"/>
            </a:endParaRPr>
          </a:p>
        </p:txBody>
      </p:sp>
      <p:sp>
        <p:nvSpPr>
          <p:cNvPr id="214" name="Google Shape;214;p9"/>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Random Forest para predecir victoria local, empate o victoria visitante</a:t>
            </a:r>
            <a:endParaRPr b="0" i="0" sz="1050" u="none" cap="none" strike="noStrike">
              <a:solidFill>
                <a:schemeClr val="dk1"/>
              </a:solidFill>
              <a:latin typeface="Arial"/>
              <a:ea typeface="Arial"/>
              <a:cs typeface="Arial"/>
              <a:sym typeface="Arial"/>
            </a:endParaRPr>
          </a:p>
        </p:txBody>
      </p:sp>
      <p:cxnSp>
        <p:nvCxnSpPr>
          <p:cNvPr id="215" name="Google Shape;215;p9"/>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216" name="Google Shape;216;p9"/>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217" name="Google Shape;217;p9"/>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07</a:t>
            </a:r>
            <a:endParaRPr b="0" i="0" sz="850" u="none" cap="none" strike="noStrike">
              <a:solidFill>
                <a:schemeClr val="dk1"/>
              </a:solidFill>
              <a:latin typeface="Arial"/>
              <a:ea typeface="Arial"/>
              <a:cs typeface="Arial"/>
              <a:sym typeface="Arial"/>
            </a:endParaRPr>
          </a:p>
        </p:txBody>
      </p:sp>
      <p:pic>
        <p:nvPicPr>
          <p:cNvPr id="218" name="Google Shape;218;p9"/>
          <p:cNvPicPr preferRelativeResize="0"/>
          <p:nvPr/>
        </p:nvPicPr>
        <p:blipFill rotWithShape="1">
          <a:blip r:embed="rId3">
            <a:alphaModFix/>
          </a:blip>
          <a:srcRect b="0" l="0" r="0" t="0"/>
          <a:stretch/>
        </p:blipFill>
        <p:spPr>
          <a:xfrm>
            <a:off x="777240" y="1508760"/>
            <a:ext cx="3383280" cy="3383280"/>
          </a:xfrm>
          <a:prstGeom prst="rect">
            <a:avLst/>
          </a:prstGeom>
          <a:noFill/>
          <a:ln>
            <a:noFill/>
          </a:ln>
        </p:spPr>
      </p:pic>
      <p:sp>
        <p:nvSpPr>
          <p:cNvPr id="219" name="Google Shape;219;p9"/>
          <p:cNvSpPr/>
          <p:nvPr/>
        </p:nvSpPr>
        <p:spPr>
          <a:xfrm>
            <a:off x="1783080" y="2788920"/>
            <a:ext cx="1371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50,9%</a:t>
            </a:r>
            <a:endParaRPr b="0" i="0" sz="2400" u="none" cap="none" strike="noStrike">
              <a:solidFill>
                <a:schemeClr val="dk1"/>
              </a:solidFill>
              <a:latin typeface="Arial"/>
              <a:ea typeface="Arial"/>
              <a:cs typeface="Arial"/>
              <a:sym typeface="Arial"/>
            </a:endParaRPr>
          </a:p>
        </p:txBody>
      </p:sp>
      <p:sp>
        <p:nvSpPr>
          <p:cNvPr id="220" name="Google Shape;220;p9"/>
          <p:cNvSpPr/>
          <p:nvPr/>
        </p:nvSpPr>
        <p:spPr>
          <a:xfrm>
            <a:off x="1417320" y="3154680"/>
            <a:ext cx="21488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30"/>
              <a:buFont typeface="Arial"/>
              <a:buNone/>
            </a:pPr>
            <a:r>
              <a:rPr b="0" i="0" lang="en-US" sz="930" u="none" cap="none" strike="noStrike">
                <a:solidFill>
                  <a:srgbClr val="64748B"/>
                </a:solidFill>
                <a:latin typeface="Arial"/>
                <a:ea typeface="Arial"/>
                <a:cs typeface="Arial"/>
                <a:sym typeface="Arial"/>
              </a:rPr>
              <a:t>precisión aproximada</a:t>
            </a:r>
            <a:endParaRPr b="0" i="0" sz="930" u="none" cap="none" strike="noStrike">
              <a:solidFill>
                <a:schemeClr val="dk1"/>
              </a:solidFill>
              <a:latin typeface="Arial"/>
              <a:ea typeface="Arial"/>
              <a:cs typeface="Arial"/>
              <a:sym typeface="Arial"/>
            </a:endParaRPr>
          </a:p>
        </p:txBody>
      </p:sp>
      <p:sp>
        <p:nvSpPr>
          <p:cNvPr id="221" name="Google Shape;221;p9"/>
          <p:cNvSpPr/>
          <p:nvPr/>
        </p:nvSpPr>
        <p:spPr>
          <a:xfrm>
            <a:off x="4800600" y="150876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Variables de entrada</a:t>
            </a:r>
            <a:endParaRPr b="0" i="0" sz="1600" u="none" cap="none" strike="noStrike">
              <a:solidFill>
                <a:schemeClr val="dk1"/>
              </a:solidFill>
              <a:latin typeface="Arial"/>
              <a:ea typeface="Arial"/>
              <a:cs typeface="Arial"/>
              <a:sym typeface="Arial"/>
            </a:endParaRPr>
          </a:p>
        </p:txBody>
      </p:sp>
      <p:sp>
        <p:nvSpPr>
          <p:cNvPr id="222" name="Google Shape;222;p9"/>
          <p:cNvSpPr/>
          <p:nvPr/>
        </p:nvSpPr>
        <p:spPr>
          <a:xfrm>
            <a:off x="4846320" y="1965960"/>
            <a:ext cx="1920240"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4919472" y="204825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tiros_local</a:t>
            </a:r>
            <a:endParaRPr b="0" i="0" sz="820" u="none" cap="none" strike="noStrike">
              <a:solidFill>
                <a:schemeClr val="dk1"/>
              </a:solidFill>
              <a:latin typeface="Arial"/>
              <a:ea typeface="Arial"/>
              <a:cs typeface="Arial"/>
              <a:sym typeface="Arial"/>
            </a:endParaRPr>
          </a:p>
        </p:txBody>
      </p:sp>
      <p:sp>
        <p:nvSpPr>
          <p:cNvPr id="224" name="Google Shape;224;p9"/>
          <p:cNvSpPr/>
          <p:nvPr/>
        </p:nvSpPr>
        <p:spPr>
          <a:xfrm>
            <a:off x="7040880" y="1965960"/>
            <a:ext cx="1920240"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7114032" y="204825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tiros_visitante</a:t>
            </a:r>
            <a:endParaRPr b="0" i="0" sz="820" u="none" cap="none" strike="noStrike">
              <a:solidFill>
                <a:schemeClr val="dk1"/>
              </a:solidFill>
              <a:latin typeface="Arial"/>
              <a:ea typeface="Arial"/>
              <a:cs typeface="Arial"/>
              <a:sym typeface="Arial"/>
            </a:endParaRPr>
          </a:p>
        </p:txBody>
      </p:sp>
      <p:sp>
        <p:nvSpPr>
          <p:cNvPr id="226" name="Google Shape;226;p9"/>
          <p:cNvSpPr/>
          <p:nvPr/>
        </p:nvSpPr>
        <p:spPr>
          <a:xfrm>
            <a:off x="4846320" y="2514600"/>
            <a:ext cx="1920240"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4919472" y="259689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tiros_puerta_local</a:t>
            </a:r>
            <a:endParaRPr b="0" i="0" sz="820" u="none" cap="none" strike="noStrike">
              <a:solidFill>
                <a:schemeClr val="dk1"/>
              </a:solidFill>
              <a:latin typeface="Arial"/>
              <a:ea typeface="Arial"/>
              <a:cs typeface="Arial"/>
              <a:sym typeface="Arial"/>
            </a:endParaRPr>
          </a:p>
        </p:txBody>
      </p:sp>
      <p:sp>
        <p:nvSpPr>
          <p:cNvPr id="228" name="Google Shape;228;p9"/>
          <p:cNvSpPr/>
          <p:nvPr/>
        </p:nvSpPr>
        <p:spPr>
          <a:xfrm>
            <a:off x="7040880" y="2514600"/>
            <a:ext cx="1920240"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7114032" y="259689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tiros_puerta_visitante</a:t>
            </a:r>
            <a:endParaRPr b="0" i="0" sz="820" u="none" cap="none" strike="noStrike">
              <a:solidFill>
                <a:schemeClr val="dk1"/>
              </a:solidFill>
              <a:latin typeface="Arial"/>
              <a:ea typeface="Arial"/>
              <a:cs typeface="Arial"/>
              <a:sym typeface="Arial"/>
            </a:endParaRPr>
          </a:p>
        </p:txBody>
      </p:sp>
      <p:sp>
        <p:nvSpPr>
          <p:cNvPr id="230" name="Google Shape;230;p9"/>
          <p:cNvSpPr/>
          <p:nvPr/>
        </p:nvSpPr>
        <p:spPr>
          <a:xfrm>
            <a:off x="4846320" y="3063240"/>
            <a:ext cx="1920240" cy="310896"/>
          </a:xfrm>
          <a:prstGeom prst="roundRect">
            <a:avLst>
              <a:gd fmla="val 29412"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4919472" y="314553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820"/>
              <a:buFont typeface="Arial"/>
              <a:buNone/>
            </a:pPr>
            <a:r>
              <a:rPr b="1" i="0" lang="en-US" sz="820" u="none" cap="none" strike="noStrike">
                <a:solidFill>
                  <a:srgbClr val="0F9F6E"/>
                </a:solidFill>
                <a:latin typeface="Arial"/>
                <a:ea typeface="Arial"/>
                <a:cs typeface="Arial"/>
                <a:sym typeface="Arial"/>
              </a:rPr>
              <a:t>amarillas_local</a:t>
            </a:r>
            <a:endParaRPr b="0" i="0" sz="820" u="none" cap="none" strike="noStrike">
              <a:solidFill>
                <a:schemeClr val="dk1"/>
              </a:solidFill>
              <a:latin typeface="Arial"/>
              <a:ea typeface="Arial"/>
              <a:cs typeface="Arial"/>
              <a:sym typeface="Arial"/>
            </a:endParaRPr>
          </a:p>
        </p:txBody>
      </p:sp>
      <p:sp>
        <p:nvSpPr>
          <p:cNvPr id="232" name="Google Shape;232;p9"/>
          <p:cNvSpPr/>
          <p:nvPr/>
        </p:nvSpPr>
        <p:spPr>
          <a:xfrm>
            <a:off x="7040880" y="3063240"/>
            <a:ext cx="1920240" cy="310896"/>
          </a:xfrm>
          <a:prstGeom prst="roundRect">
            <a:avLst>
              <a:gd fmla="val 29412" name="adj"/>
            </a:avLst>
          </a:prstGeom>
          <a:solidFill>
            <a:srgbClr val="FFF4D6"/>
          </a:solidFill>
          <a:ln cap="flat" cmpd="sng" w="12700">
            <a:solidFill>
              <a:srgbClr val="FFF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7114032" y="3145536"/>
            <a:ext cx="1773936"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820"/>
              <a:buFont typeface="Arial"/>
              <a:buNone/>
            </a:pPr>
            <a:r>
              <a:rPr b="1" i="0" lang="en-US" sz="820" u="none" cap="none" strike="noStrike">
                <a:solidFill>
                  <a:srgbClr val="F59E0B"/>
                </a:solidFill>
                <a:latin typeface="Arial"/>
                <a:ea typeface="Arial"/>
                <a:cs typeface="Arial"/>
                <a:sym typeface="Arial"/>
              </a:rPr>
              <a:t>amarillas_visitante</a:t>
            </a:r>
            <a:endParaRPr b="0" i="0" sz="820" u="none" cap="none" strike="noStrike">
              <a:solidFill>
                <a:schemeClr val="dk1"/>
              </a:solidFill>
              <a:latin typeface="Arial"/>
              <a:ea typeface="Arial"/>
              <a:cs typeface="Arial"/>
              <a:sym typeface="Arial"/>
            </a:endParaRPr>
          </a:p>
        </p:txBody>
      </p:sp>
      <p:sp>
        <p:nvSpPr>
          <p:cNvPr id="234" name="Google Shape;234;p9"/>
          <p:cNvSpPr/>
          <p:nvPr/>
        </p:nvSpPr>
        <p:spPr>
          <a:xfrm>
            <a:off x="9372600" y="150876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Salidas</a:t>
            </a:r>
            <a:endParaRPr b="0" i="0" sz="1600" u="none" cap="none" strike="noStrike">
              <a:solidFill>
                <a:schemeClr val="dk1"/>
              </a:solidFill>
              <a:latin typeface="Arial"/>
              <a:ea typeface="Arial"/>
              <a:cs typeface="Arial"/>
              <a:sym typeface="Arial"/>
            </a:endParaRPr>
          </a:p>
        </p:txBody>
      </p:sp>
      <p:sp>
        <p:nvSpPr>
          <p:cNvPr id="235" name="Google Shape;235;p9"/>
          <p:cNvSpPr/>
          <p:nvPr/>
        </p:nvSpPr>
        <p:spPr>
          <a:xfrm>
            <a:off x="9372600" y="202082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9592056" y="1965960"/>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Victoria local</a:t>
            </a:r>
            <a:endParaRPr b="0" i="0" sz="1230" u="none" cap="none" strike="noStrike">
              <a:solidFill>
                <a:schemeClr val="dk1"/>
              </a:solidFill>
              <a:latin typeface="Arial"/>
              <a:ea typeface="Arial"/>
              <a:cs typeface="Arial"/>
              <a:sym typeface="Arial"/>
            </a:endParaRPr>
          </a:p>
        </p:txBody>
      </p:sp>
      <p:sp>
        <p:nvSpPr>
          <p:cNvPr id="237" name="Google Shape;237;p9"/>
          <p:cNvSpPr/>
          <p:nvPr/>
        </p:nvSpPr>
        <p:spPr>
          <a:xfrm>
            <a:off x="9372600" y="238658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9592056" y="2331720"/>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Empate</a:t>
            </a:r>
            <a:endParaRPr b="0" i="0" sz="1230" u="none" cap="none" strike="noStrike">
              <a:solidFill>
                <a:schemeClr val="dk1"/>
              </a:solidFill>
              <a:latin typeface="Arial"/>
              <a:ea typeface="Arial"/>
              <a:cs typeface="Arial"/>
              <a:sym typeface="Arial"/>
            </a:endParaRPr>
          </a:p>
        </p:txBody>
      </p:sp>
      <p:sp>
        <p:nvSpPr>
          <p:cNvPr id="239" name="Google Shape;239;p9"/>
          <p:cNvSpPr/>
          <p:nvPr/>
        </p:nvSpPr>
        <p:spPr>
          <a:xfrm>
            <a:off x="9372600" y="275234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9592056" y="2697480"/>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Victoria visitante</a:t>
            </a:r>
            <a:endParaRPr b="0" i="0" sz="1230" u="none" cap="none" strike="noStrike">
              <a:solidFill>
                <a:schemeClr val="dk1"/>
              </a:solidFill>
              <a:latin typeface="Arial"/>
              <a:ea typeface="Arial"/>
              <a:cs typeface="Arial"/>
              <a:sym typeface="Arial"/>
            </a:endParaRPr>
          </a:p>
        </p:txBody>
      </p:sp>
      <p:sp>
        <p:nvSpPr>
          <p:cNvPr id="241" name="Google Shape;241;p9"/>
          <p:cNvSpPr/>
          <p:nvPr/>
        </p:nvSpPr>
        <p:spPr>
          <a:xfrm>
            <a:off x="4846320" y="4251960"/>
            <a:ext cx="6126480" cy="1005840"/>
          </a:xfrm>
          <a:prstGeom prst="roundRect">
            <a:avLst>
              <a:gd fmla="val 10909" name="adj"/>
            </a:avLst>
          </a:prstGeom>
          <a:solidFill>
            <a:srgbClr val="FAF7E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5047488" y="4434840"/>
            <a:ext cx="5724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Limitación</a:t>
            </a:r>
            <a:endParaRPr b="0" i="0" sz="1320" u="none" cap="none" strike="noStrike">
              <a:solidFill>
                <a:schemeClr val="dk1"/>
              </a:solidFill>
              <a:latin typeface="Arial"/>
              <a:ea typeface="Arial"/>
              <a:cs typeface="Arial"/>
              <a:sym typeface="Arial"/>
            </a:endParaRPr>
          </a:p>
        </p:txBody>
      </p:sp>
      <p:sp>
        <p:nvSpPr>
          <p:cNvPr id="243" name="Google Shape;243;p9"/>
          <p:cNvSpPr/>
          <p:nvPr/>
        </p:nvSpPr>
        <p:spPr>
          <a:xfrm>
            <a:off x="5047488" y="4782312"/>
            <a:ext cx="5724144" cy="256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El modelo no predice solo por nombre de equipos. Usa estadísticas introducidas por el usuario y sirve como demostración práctica de Machine Learning.</a:t>
            </a:r>
            <a:endParaRPr b="0" i="0" sz="95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EF"/>
        </a:solidFill>
      </p:bgPr>
    </p:bg>
    <p:spTree>
      <p:nvGrpSpPr>
        <p:cNvPr id="248" name="Shape 248"/>
        <p:cNvGrpSpPr/>
        <p:nvPr/>
      </p:nvGrpSpPr>
      <p:grpSpPr>
        <a:xfrm>
          <a:off x="0" y="0"/>
          <a:ext cx="0" cy="0"/>
          <a:chOff x="0" y="0"/>
          <a:chExt cx="0" cy="0"/>
        </a:xfrm>
      </p:grpSpPr>
      <p:sp>
        <p:nvSpPr>
          <p:cNvPr id="249" name="Google Shape;249;p10"/>
          <p:cNvSpPr/>
          <p:nvPr/>
        </p:nvSpPr>
        <p:spPr>
          <a:xfrm>
            <a:off x="0" y="0"/>
            <a:ext cx="12191695" cy="6858000"/>
          </a:xfrm>
          <a:prstGeom prst="rect">
            <a:avLst/>
          </a:prstGeom>
          <a:solidFill>
            <a:srgbClr val="FAF7EF"/>
          </a:solidFill>
          <a:ln cap="flat" cmpd="sng" w="12700">
            <a:solidFill>
              <a:srgbClr val="FAF7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7. Testing y robustez</a:t>
            </a:r>
            <a:endParaRPr b="0" i="0" sz="2400" u="none" cap="none" strike="noStrike">
              <a:solidFill>
                <a:schemeClr val="dk1"/>
              </a:solidFill>
              <a:latin typeface="Arial"/>
              <a:ea typeface="Arial"/>
              <a:cs typeface="Arial"/>
              <a:sym typeface="Arial"/>
            </a:endParaRPr>
          </a:p>
        </p:txBody>
      </p:sp>
      <p:sp>
        <p:nvSpPr>
          <p:cNvPr id="252" name="Google Shape;252;p10"/>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Pruebas automáticas y control de errores</a:t>
            </a:r>
            <a:endParaRPr b="0" i="0" sz="1050" u="none" cap="none" strike="noStrike">
              <a:solidFill>
                <a:schemeClr val="dk1"/>
              </a:solidFill>
              <a:latin typeface="Arial"/>
              <a:ea typeface="Arial"/>
              <a:cs typeface="Arial"/>
              <a:sym typeface="Arial"/>
            </a:endParaRPr>
          </a:p>
        </p:txBody>
      </p:sp>
      <p:cxnSp>
        <p:nvCxnSpPr>
          <p:cNvPr id="253" name="Google Shape;253;p10"/>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254" name="Google Shape;254;p10"/>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255" name="Google Shape;255;p10"/>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08</a:t>
            </a:r>
            <a:endParaRPr b="0" i="0" sz="850" u="none" cap="none" strike="noStrike">
              <a:solidFill>
                <a:schemeClr val="dk1"/>
              </a:solidFill>
              <a:latin typeface="Arial"/>
              <a:ea typeface="Arial"/>
              <a:cs typeface="Arial"/>
              <a:sym typeface="Arial"/>
            </a:endParaRPr>
          </a:p>
        </p:txBody>
      </p:sp>
      <p:sp>
        <p:nvSpPr>
          <p:cNvPr id="256" name="Google Shape;256;p10"/>
          <p:cNvSpPr/>
          <p:nvPr/>
        </p:nvSpPr>
        <p:spPr>
          <a:xfrm>
            <a:off x="777240" y="150876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Pruebas con Pytest</a:t>
            </a:r>
            <a:endParaRPr b="0" i="0" sz="1600" u="none" cap="none" strike="noStrike">
              <a:solidFill>
                <a:schemeClr val="dk1"/>
              </a:solidFill>
              <a:latin typeface="Arial"/>
              <a:ea typeface="Arial"/>
              <a:cs typeface="Arial"/>
              <a:sym typeface="Arial"/>
            </a:endParaRPr>
          </a:p>
        </p:txBody>
      </p:sp>
      <p:sp>
        <p:nvSpPr>
          <p:cNvPr id="257" name="Google Shape;257;p10"/>
          <p:cNvSpPr/>
          <p:nvPr/>
        </p:nvSpPr>
        <p:spPr>
          <a:xfrm>
            <a:off x="868680" y="197510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1088136" y="1920240"/>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Dataset limpio existe</a:t>
            </a:r>
            <a:endParaRPr b="0" i="0" sz="1230" u="none" cap="none" strike="noStrike">
              <a:solidFill>
                <a:schemeClr val="dk1"/>
              </a:solidFill>
              <a:latin typeface="Arial"/>
              <a:ea typeface="Arial"/>
              <a:cs typeface="Arial"/>
              <a:sym typeface="Arial"/>
            </a:endParaRPr>
          </a:p>
        </p:txBody>
      </p:sp>
      <p:sp>
        <p:nvSpPr>
          <p:cNvPr id="259" name="Google Shape;259;p10"/>
          <p:cNvSpPr/>
          <p:nvPr/>
        </p:nvSpPr>
        <p:spPr>
          <a:xfrm>
            <a:off x="868680" y="241401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1088136" y="2359152"/>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Columnas obligatorias</a:t>
            </a:r>
            <a:endParaRPr b="0" i="0" sz="1230" u="none" cap="none" strike="noStrike">
              <a:solidFill>
                <a:schemeClr val="dk1"/>
              </a:solidFill>
              <a:latin typeface="Arial"/>
              <a:ea typeface="Arial"/>
              <a:cs typeface="Arial"/>
              <a:sym typeface="Arial"/>
            </a:endParaRPr>
          </a:p>
        </p:txBody>
      </p:sp>
      <p:sp>
        <p:nvSpPr>
          <p:cNvPr id="261" name="Google Shape;261;p10"/>
          <p:cNvSpPr/>
          <p:nvPr/>
        </p:nvSpPr>
        <p:spPr>
          <a:xfrm>
            <a:off x="868680" y="2852928"/>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1088136" y="2798064"/>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Cálculo de puntos</a:t>
            </a:r>
            <a:endParaRPr b="0" i="0" sz="1230" u="none" cap="none" strike="noStrike">
              <a:solidFill>
                <a:schemeClr val="dk1"/>
              </a:solidFill>
              <a:latin typeface="Arial"/>
              <a:ea typeface="Arial"/>
              <a:cs typeface="Arial"/>
              <a:sym typeface="Arial"/>
            </a:endParaRPr>
          </a:p>
        </p:txBody>
      </p:sp>
      <p:sp>
        <p:nvSpPr>
          <p:cNvPr id="263" name="Google Shape;263;p10"/>
          <p:cNvSpPr/>
          <p:nvPr/>
        </p:nvSpPr>
        <p:spPr>
          <a:xfrm>
            <a:off x="868680" y="3291840"/>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1088136" y="3236976"/>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Clasificación generada</a:t>
            </a:r>
            <a:endParaRPr b="0" i="0" sz="1230" u="none" cap="none" strike="noStrike">
              <a:solidFill>
                <a:schemeClr val="dk1"/>
              </a:solidFill>
              <a:latin typeface="Arial"/>
              <a:ea typeface="Arial"/>
              <a:cs typeface="Arial"/>
              <a:sym typeface="Arial"/>
            </a:endParaRPr>
          </a:p>
        </p:txBody>
      </p:sp>
      <p:sp>
        <p:nvSpPr>
          <p:cNvPr id="265" name="Google Shape;265;p10"/>
          <p:cNvSpPr/>
          <p:nvPr/>
        </p:nvSpPr>
        <p:spPr>
          <a:xfrm>
            <a:off x="868680" y="3730752"/>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1088136" y="3675888"/>
            <a:ext cx="4297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Modelo IA entrena y predice</a:t>
            </a:r>
            <a:endParaRPr b="0" i="0" sz="1230" u="none" cap="none" strike="noStrike">
              <a:solidFill>
                <a:schemeClr val="dk1"/>
              </a:solidFill>
              <a:latin typeface="Arial"/>
              <a:ea typeface="Arial"/>
              <a:cs typeface="Arial"/>
              <a:sym typeface="Arial"/>
            </a:endParaRPr>
          </a:p>
        </p:txBody>
      </p:sp>
      <p:sp>
        <p:nvSpPr>
          <p:cNvPr id="267" name="Google Shape;267;p10"/>
          <p:cNvSpPr/>
          <p:nvPr/>
        </p:nvSpPr>
        <p:spPr>
          <a:xfrm>
            <a:off x="5760720" y="150876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Control de errores</a:t>
            </a:r>
            <a:endParaRPr b="0" i="0" sz="1600" u="none" cap="none" strike="noStrike">
              <a:solidFill>
                <a:schemeClr val="dk1"/>
              </a:solidFill>
              <a:latin typeface="Arial"/>
              <a:ea typeface="Arial"/>
              <a:cs typeface="Arial"/>
              <a:sym typeface="Arial"/>
            </a:endParaRPr>
          </a:p>
        </p:txBody>
      </p:sp>
      <p:sp>
        <p:nvSpPr>
          <p:cNvPr id="268" name="Google Shape;268;p10"/>
          <p:cNvSpPr/>
          <p:nvPr/>
        </p:nvSpPr>
        <p:spPr>
          <a:xfrm>
            <a:off x="5806440" y="197510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6025896" y="192024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CSV no encontrado o vacío</a:t>
            </a:r>
            <a:endParaRPr b="0" i="0" sz="1230" u="none" cap="none" strike="noStrike">
              <a:solidFill>
                <a:schemeClr val="dk1"/>
              </a:solidFill>
              <a:latin typeface="Arial"/>
              <a:ea typeface="Arial"/>
              <a:cs typeface="Arial"/>
              <a:sym typeface="Arial"/>
            </a:endParaRPr>
          </a:p>
        </p:txBody>
      </p:sp>
      <p:sp>
        <p:nvSpPr>
          <p:cNvPr id="270" name="Google Shape;270;p10"/>
          <p:cNvSpPr/>
          <p:nvPr/>
        </p:nvSpPr>
        <p:spPr>
          <a:xfrm>
            <a:off x="5806440" y="234086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6025896" y="228600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Columnas obligatorias ausentes</a:t>
            </a:r>
            <a:endParaRPr b="0" i="0" sz="1230" u="none" cap="none" strike="noStrike">
              <a:solidFill>
                <a:schemeClr val="dk1"/>
              </a:solidFill>
              <a:latin typeface="Arial"/>
              <a:ea typeface="Arial"/>
              <a:cs typeface="Arial"/>
              <a:sym typeface="Arial"/>
            </a:endParaRPr>
          </a:p>
        </p:txBody>
      </p:sp>
      <p:sp>
        <p:nvSpPr>
          <p:cNvPr id="272" name="Google Shape;272;p10"/>
          <p:cNvSpPr/>
          <p:nvPr/>
        </p:nvSpPr>
        <p:spPr>
          <a:xfrm>
            <a:off x="5806440" y="270662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6025896" y="265176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Errores al entrenar modelo</a:t>
            </a:r>
            <a:endParaRPr b="0" i="0" sz="1230" u="none" cap="none" strike="noStrike">
              <a:solidFill>
                <a:schemeClr val="dk1"/>
              </a:solidFill>
              <a:latin typeface="Arial"/>
              <a:ea typeface="Arial"/>
              <a:cs typeface="Arial"/>
              <a:sym typeface="Arial"/>
            </a:endParaRPr>
          </a:p>
        </p:txBody>
      </p:sp>
      <p:sp>
        <p:nvSpPr>
          <p:cNvPr id="274" name="Google Shape;274;p10"/>
          <p:cNvSpPr/>
          <p:nvPr/>
        </p:nvSpPr>
        <p:spPr>
          <a:xfrm>
            <a:off x="5806440" y="307238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6025896" y="301752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230"/>
              <a:buFont typeface="Arial"/>
              <a:buNone/>
            </a:pPr>
            <a:r>
              <a:rPr b="0" i="0" lang="en-US" sz="1230" u="none" cap="none" strike="noStrike">
                <a:solidFill>
                  <a:srgbClr val="111827"/>
                </a:solidFill>
                <a:latin typeface="Arial"/>
                <a:ea typeface="Arial"/>
                <a:cs typeface="Arial"/>
                <a:sym typeface="Arial"/>
              </a:rPr>
              <a:t>Mensajes claros en Streamlit</a:t>
            </a:r>
            <a:endParaRPr b="0" i="0" sz="1230" u="none" cap="none" strike="noStrike">
              <a:solidFill>
                <a:schemeClr val="dk1"/>
              </a:solidFill>
              <a:latin typeface="Arial"/>
              <a:ea typeface="Arial"/>
              <a:cs typeface="Arial"/>
              <a:sym typeface="Arial"/>
            </a:endParaRPr>
          </a:p>
        </p:txBody>
      </p:sp>
      <p:sp>
        <p:nvSpPr>
          <p:cNvPr id="276" name="Google Shape;276;p10"/>
          <p:cNvSpPr/>
          <p:nvPr/>
        </p:nvSpPr>
        <p:spPr>
          <a:xfrm>
            <a:off x="5806440" y="3977640"/>
            <a:ext cx="4434840" cy="1325880"/>
          </a:xfrm>
          <a:prstGeom prst="roundRect">
            <a:avLst>
              <a:gd fmla="val 8276" name="adj"/>
            </a:avLst>
          </a:prstGeom>
          <a:solidFill>
            <a:srgbClr val="FFFFFF">
              <a:alpha val="92156"/>
            </a:srgbClr>
          </a:solidFill>
          <a:ln cap="flat" cmpd="sng" w="1395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5989320" y="4142232"/>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9F6E"/>
              </a:buClr>
              <a:buSzPts val="1280"/>
              <a:buFont typeface="Arial"/>
              <a:buNone/>
            </a:pPr>
            <a:r>
              <a:rPr b="1" i="0" lang="en-US" sz="1280" u="none" cap="none" strike="noStrike">
                <a:solidFill>
                  <a:srgbClr val="0F9F6E"/>
                </a:solidFill>
                <a:latin typeface="Arial"/>
                <a:ea typeface="Arial"/>
                <a:cs typeface="Arial"/>
                <a:sym typeface="Arial"/>
              </a:rPr>
              <a:t>Captura recomendada</a:t>
            </a:r>
            <a:endParaRPr b="0" i="0" sz="1280" u="none" cap="none" strike="noStrike">
              <a:solidFill>
                <a:schemeClr val="dk1"/>
              </a:solidFill>
              <a:latin typeface="Arial"/>
              <a:ea typeface="Arial"/>
              <a:cs typeface="Arial"/>
              <a:sym typeface="Arial"/>
            </a:endParaRPr>
          </a:p>
        </p:txBody>
      </p:sp>
      <p:sp>
        <p:nvSpPr>
          <p:cNvPr id="278" name="Google Shape;278;p10"/>
          <p:cNvSpPr/>
          <p:nvPr/>
        </p:nvSpPr>
        <p:spPr>
          <a:xfrm>
            <a:off x="5989320" y="4507992"/>
            <a:ext cx="4069080" cy="594360"/>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64748B"/>
              </a:buClr>
              <a:buSzPts val="910"/>
              <a:buFont typeface="Arial"/>
              <a:buNone/>
            </a:pPr>
            <a:r>
              <a:rPr b="0" i="0" lang="en-US" sz="910" u="none" cap="none" strike="noStrike">
                <a:solidFill>
                  <a:srgbClr val="64748B"/>
                </a:solidFill>
                <a:latin typeface="Arial"/>
                <a:ea typeface="Arial"/>
                <a:cs typeface="Arial"/>
                <a:sym typeface="Arial"/>
              </a:rPr>
              <a:t>Captura de terminal con pytest pasando correctamente.</a:t>
            </a:r>
            <a:endParaRPr b="0" i="0" sz="910" u="none" cap="none" strike="noStrike">
              <a:solidFill>
                <a:schemeClr val="dk1"/>
              </a:solidFill>
              <a:latin typeface="Arial"/>
              <a:ea typeface="Arial"/>
              <a:cs typeface="Arial"/>
              <a:sym typeface="Arial"/>
            </a:endParaRPr>
          </a:p>
        </p:txBody>
      </p:sp>
      <p:pic>
        <p:nvPicPr>
          <p:cNvPr id="279" name="Google Shape;279;p10"/>
          <p:cNvPicPr preferRelativeResize="0"/>
          <p:nvPr/>
        </p:nvPicPr>
        <p:blipFill>
          <a:blip r:embed="rId3">
            <a:alphaModFix/>
          </a:blip>
          <a:stretch>
            <a:fillRect/>
          </a:stretch>
        </p:blipFill>
        <p:spPr>
          <a:xfrm>
            <a:off x="5618475" y="3730749"/>
            <a:ext cx="5625352" cy="2108150"/>
          </a:xfrm>
          <a:prstGeom prst="rect">
            <a:avLst/>
          </a:prstGeom>
          <a:solidFill>
            <a:srgbClr val="FAF7EF"/>
          </a:solidFill>
          <a:ln cap="flat" cmpd="sng" w="12700">
            <a:solidFill>
              <a:srgbClr val="FAF7EF"/>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1"/>
          <p:cNvSpPr/>
          <p:nvPr/>
        </p:nvSpPr>
        <p:spPr>
          <a:xfrm>
            <a:off x="0" y="0"/>
            <a:ext cx="12191695" cy="685800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8. Mejoras futuras</a:t>
            </a:r>
            <a:endParaRPr b="0" i="0" sz="2400" u="none" cap="none" strike="noStrike">
              <a:solidFill>
                <a:schemeClr val="dk1"/>
              </a:solidFill>
              <a:latin typeface="Arial"/>
              <a:ea typeface="Arial"/>
              <a:cs typeface="Arial"/>
              <a:sym typeface="Arial"/>
            </a:endParaRPr>
          </a:p>
        </p:txBody>
      </p:sp>
      <p:sp>
        <p:nvSpPr>
          <p:cNvPr id="288" name="Google Shape;288;p11"/>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Evolución posible del proyecto</a:t>
            </a:r>
            <a:endParaRPr b="0" i="0" sz="1050" u="none" cap="none" strike="noStrike">
              <a:solidFill>
                <a:schemeClr val="dk1"/>
              </a:solidFill>
              <a:latin typeface="Arial"/>
              <a:ea typeface="Arial"/>
              <a:cs typeface="Arial"/>
              <a:sym typeface="Arial"/>
            </a:endParaRPr>
          </a:p>
        </p:txBody>
      </p:sp>
      <p:cxnSp>
        <p:nvCxnSpPr>
          <p:cNvPr id="289" name="Google Shape;289;p11"/>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290" name="Google Shape;290;p11"/>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291" name="Google Shape;291;p11"/>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09</a:t>
            </a:r>
            <a:endParaRPr b="0" i="0" sz="850" u="none" cap="none" strike="noStrike">
              <a:solidFill>
                <a:schemeClr val="dk1"/>
              </a:solidFill>
              <a:latin typeface="Arial"/>
              <a:ea typeface="Arial"/>
              <a:cs typeface="Arial"/>
              <a:sym typeface="Arial"/>
            </a:endParaRPr>
          </a:p>
        </p:txBody>
      </p:sp>
      <p:sp>
        <p:nvSpPr>
          <p:cNvPr id="292" name="Google Shape;292;p11"/>
          <p:cNvSpPr/>
          <p:nvPr/>
        </p:nvSpPr>
        <p:spPr>
          <a:xfrm>
            <a:off x="822960" y="1600200"/>
            <a:ext cx="4434840" cy="960120"/>
          </a:xfrm>
          <a:prstGeom prst="roundRect">
            <a:avLst>
              <a:gd fmla="val 11429" name="adj"/>
            </a:avLst>
          </a:prstGeom>
          <a:solidFill>
            <a:srgbClr val="FAF7E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1024128" y="1783080"/>
            <a:ext cx="40325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Más datos</a:t>
            </a:r>
            <a:endParaRPr b="0" i="0" sz="1320" u="none" cap="none" strike="noStrike">
              <a:solidFill>
                <a:schemeClr val="dk1"/>
              </a:solidFill>
              <a:latin typeface="Arial"/>
              <a:ea typeface="Arial"/>
              <a:cs typeface="Arial"/>
              <a:sym typeface="Arial"/>
            </a:endParaRPr>
          </a:p>
        </p:txBody>
      </p:sp>
      <p:sp>
        <p:nvSpPr>
          <p:cNvPr id="294" name="Google Shape;294;p11"/>
          <p:cNvSpPr/>
          <p:nvPr/>
        </p:nvSpPr>
        <p:spPr>
          <a:xfrm>
            <a:off x="1024128" y="2130552"/>
            <a:ext cx="4032504" cy="2103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Añadir más temporadas y competiciones.</a:t>
            </a:r>
            <a:endParaRPr b="0" i="0" sz="950" u="none" cap="none" strike="noStrike">
              <a:solidFill>
                <a:schemeClr val="dk1"/>
              </a:solidFill>
              <a:latin typeface="Arial"/>
              <a:ea typeface="Arial"/>
              <a:cs typeface="Arial"/>
              <a:sym typeface="Arial"/>
            </a:endParaRPr>
          </a:p>
        </p:txBody>
      </p:sp>
      <p:sp>
        <p:nvSpPr>
          <p:cNvPr id="295" name="Google Shape;295;p11"/>
          <p:cNvSpPr/>
          <p:nvPr/>
        </p:nvSpPr>
        <p:spPr>
          <a:xfrm>
            <a:off x="6172200" y="1600200"/>
            <a:ext cx="4434840" cy="960120"/>
          </a:xfrm>
          <a:prstGeom prst="roundRect">
            <a:avLst>
              <a:gd fmla="val 11429"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6373368" y="1783080"/>
            <a:ext cx="40325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Más variables</a:t>
            </a:r>
            <a:endParaRPr b="0" i="0" sz="1320" u="none" cap="none" strike="noStrike">
              <a:solidFill>
                <a:schemeClr val="dk1"/>
              </a:solidFill>
              <a:latin typeface="Arial"/>
              <a:ea typeface="Arial"/>
              <a:cs typeface="Arial"/>
              <a:sym typeface="Arial"/>
            </a:endParaRPr>
          </a:p>
        </p:txBody>
      </p:sp>
      <p:sp>
        <p:nvSpPr>
          <p:cNvPr id="297" name="Google Shape;297;p11"/>
          <p:cNvSpPr/>
          <p:nvPr/>
        </p:nvSpPr>
        <p:spPr>
          <a:xfrm>
            <a:off x="6373368" y="2130552"/>
            <a:ext cx="4032504" cy="2103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Incluir rachas, córners, posición o lesiones.</a:t>
            </a:r>
            <a:endParaRPr b="0" i="0" sz="950" u="none" cap="none" strike="noStrike">
              <a:solidFill>
                <a:schemeClr val="dk1"/>
              </a:solidFill>
              <a:latin typeface="Arial"/>
              <a:ea typeface="Arial"/>
              <a:cs typeface="Arial"/>
              <a:sym typeface="Arial"/>
            </a:endParaRPr>
          </a:p>
        </p:txBody>
      </p:sp>
      <p:sp>
        <p:nvSpPr>
          <p:cNvPr id="298" name="Google Shape;298;p11"/>
          <p:cNvSpPr/>
          <p:nvPr/>
        </p:nvSpPr>
        <p:spPr>
          <a:xfrm>
            <a:off x="822960" y="3200400"/>
            <a:ext cx="4434840" cy="960120"/>
          </a:xfrm>
          <a:prstGeom prst="roundRect">
            <a:avLst>
              <a:gd fmla="val 11429" name="adj"/>
            </a:avLst>
          </a:prstGeom>
          <a:solidFill>
            <a:srgbClr val="FAF7EF"/>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1024128" y="3383280"/>
            <a:ext cx="40325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Predicción previa</a:t>
            </a:r>
            <a:endParaRPr b="0" i="0" sz="1320" u="none" cap="none" strike="noStrike">
              <a:solidFill>
                <a:schemeClr val="dk1"/>
              </a:solidFill>
              <a:latin typeface="Arial"/>
              <a:ea typeface="Arial"/>
              <a:cs typeface="Arial"/>
              <a:sym typeface="Arial"/>
            </a:endParaRPr>
          </a:p>
        </p:txBody>
      </p:sp>
      <p:sp>
        <p:nvSpPr>
          <p:cNvPr id="300" name="Google Shape;300;p11"/>
          <p:cNvSpPr/>
          <p:nvPr/>
        </p:nvSpPr>
        <p:spPr>
          <a:xfrm>
            <a:off x="1024128" y="3730752"/>
            <a:ext cx="4032504" cy="2103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Usar estadísticas acumuladas antes del partido.</a:t>
            </a:r>
            <a:endParaRPr b="0" i="0" sz="950" u="none" cap="none" strike="noStrike">
              <a:solidFill>
                <a:schemeClr val="dk1"/>
              </a:solidFill>
              <a:latin typeface="Arial"/>
              <a:ea typeface="Arial"/>
              <a:cs typeface="Arial"/>
              <a:sym typeface="Arial"/>
            </a:endParaRPr>
          </a:p>
        </p:txBody>
      </p:sp>
      <p:sp>
        <p:nvSpPr>
          <p:cNvPr id="301" name="Google Shape;301;p11"/>
          <p:cNvSpPr/>
          <p:nvPr/>
        </p:nvSpPr>
        <p:spPr>
          <a:xfrm>
            <a:off x="6172200" y="3200400"/>
            <a:ext cx="4434840" cy="960120"/>
          </a:xfrm>
          <a:prstGeom prst="roundRect">
            <a:avLst>
              <a:gd fmla="val 11429"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6373368" y="3383280"/>
            <a:ext cx="40325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Despliegue cloud</a:t>
            </a:r>
            <a:endParaRPr b="0" i="0" sz="1320" u="none" cap="none" strike="noStrike">
              <a:solidFill>
                <a:schemeClr val="dk1"/>
              </a:solidFill>
              <a:latin typeface="Arial"/>
              <a:ea typeface="Arial"/>
              <a:cs typeface="Arial"/>
              <a:sym typeface="Arial"/>
            </a:endParaRPr>
          </a:p>
        </p:txBody>
      </p:sp>
      <p:sp>
        <p:nvSpPr>
          <p:cNvPr id="303" name="Google Shape;303;p11"/>
          <p:cNvSpPr/>
          <p:nvPr/>
        </p:nvSpPr>
        <p:spPr>
          <a:xfrm>
            <a:off x="6373368" y="3730752"/>
            <a:ext cx="4032504" cy="21031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Publicar el dashboard para acceso externo.</a:t>
            </a:r>
            <a:endParaRPr b="0" i="0" sz="950" u="none" cap="none" strike="noStrike">
              <a:solidFill>
                <a:schemeClr val="dk1"/>
              </a:solidFill>
              <a:latin typeface="Arial"/>
              <a:ea typeface="Arial"/>
              <a:cs typeface="Arial"/>
              <a:sym typeface="Arial"/>
            </a:endParaRPr>
          </a:p>
        </p:txBody>
      </p:sp>
      <p:sp>
        <p:nvSpPr>
          <p:cNvPr id="304" name="Google Shape;304;p11"/>
          <p:cNvSpPr/>
          <p:nvPr/>
        </p:nvSpPr>
        <p:spPr>
          <a:xfrm>
            <a:off x="914400" y="4983480"/>
            <a:ext cx="9875520" cy="685800"/>
          </a:xfrm>
          <a:prstGeom prst="roundRect">
            <a:avLst>
              <a:gd fmla="val 16000" name="adj"/>
            </a:avLst>
          </a:prstGeom>
          <a:solidFill>
            <a:srgbClr val="0B1F17"/>
          </a:solidFill>
          <a:ln cap="flat" cmpd="sng" w="12700">
            <a:solidFill>
              <a:srgbClr val="0B1F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1188720" y="5212080"/>
            <a:ext cx="93268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Objetivo futuro: pasar de prototipo académico a herramienta deportiva más completa.</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EF"/>
        </a:solidFill>
      </p:bgPr>
    </p:bg>
    <p:spTree>
      <p:nvGrpSpPr>
        <p:cNvPr id="310" name="Shape 310"/>
        <p:cNvGrpSpPr/>
        <p:nvPr/>
      </p:nvGrpSpPr>
      <p:grpSpPr>
        <a:xfrm>
          <a:off x="0" y="0"/>
          <a:ext cx="0" cy="0"/>
          <a:chOff x="0" y="0"/>
          <a:chExt cx="0" cy="0"/>
        </a:xfrm>
      </p:grpSpPr>
      <p:sp>
        <p:nvSpPr>
          <p:cNvPr id="311" name="Google Shape;311;p12"/>
          <p:cNvSpPr/>
          <p:nvPr/>
        </p:nvSpPr>
        <p:spPr>
          <a:xfrm>
            <a:off x="0" y="0"/>
            <a:ext cx="12191695" cy="6858000"/>
          </a:xfrm>
          <a:prstGeom prst="rect">
            <a:avLst/>
          </a:prstGeom>
          <a:solidFill>
            <a:srgbClr val="FAF7EF"/>
          </a:solidFill>
          <a:ln cap="flat" cmpd="sng" w="12700">
            <a:solidFill>
              <a:srgbClr val="FAF7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640080" y="530352"/>
            <a:ext cx="73152" cy="594360"/>
          </a:xfrm>
          <a:prstGeom prst="rect">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841248" y="50292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400"/>
              <a:buFont typeface="Arial"/>
              <a:buNone/>
            </a:pPr>
            <a:r>
              <a:rPr b="1" i="0" lang="en-US" sz="2400" u="none" cap="none" strike="noStrike">
                <a:solidFill>
                  <a:srgbClr val="111827"/>
                </a:solidFill>
                <a:latin typeface="Arial"/>
                <a:ea typeface="Arial"/>
                <a:cs typeface="Arial"/>
                <a:sym typeface="Arial"/>
              </a:rPr>
              <a:t>9. Cierre y repositorio</a:t>
            </a:r>
            <a:endParaRPr b="0" i="0" sz="2400" u="none" cap="none" strike="noStrike">
              <a:solidFill>
                <a:schemeClr val="dk1"/>
              </a:solidFill>
              <a:latin typeface="Arial"/>
              <a:ea typeface="Arial"/>
              <a:cs typeface="Arial"/>
              <a:sym typeface="Arial"/>
            </a:endParaRPr>
          </a:p>
        </p:txBody>
      </p:sp>
      <p:sp>
        <p:nvSpPr>
          <p:cNvPr id="314" name="Google Shape;314;p12"/>
          <p:cNvSpPr/>
          <p:nvPr/>
        </p:nvSpPr>
        <p:spPr>
          <a:xfrm>
            <a:off x="850392" y="950976"/>
            <a:ext cx="8686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Arial"/>
              <a:buNone/>
            </a:pPr>
            <a:r>
              <a:rPr b="0" i="0" lang="en-US" sz="1050" u="none" cap="none" strike="noStrike">
                <a:solidFill>
                  <a:srgbClr val="475569"/>
                </a:solidFill>
                <a:latin typeface="Arial"/>
                <a:ea typeface="Arial"/>
                <a:cs typeface="Arial"/>
                <a:sym typeface="Arial"/>
              </a:rPr>
              <a:t>Aplicación funcional con análisis, IA, POO y pruebas</a:t>
            </a:r>
            <a:endParaRPr b="0" i="0" sz="1050" u="none" cap="none" strike="noStrike">
              <a:solidFill>
                <a:schemeClr val="dk1"/>
              </a:solidFill>
              <a:latin typeface="Arial"/>
              <a:ea typeface="Arial"/>
              <a:cs typeface="Arial"/>
              <a:sym typeface="Arial"/>
            </a:endParaRPr>
          </a:p>
        </p:txBody>
      </p:sp>
      <p:cxnSp>
        <p:nvCxnSpPr>
          <p:cNvPr id="315" name="Google Shape;315;p12"/>
          <p:cNvCxnSpPr/>
          <p:nvPr/>
        </p:nvCxnSpPr>
        <p:spPr>
          <a:xfrm>
            <a:off x="594360" y="6446520"/>
            <a:ext cx="11018520" cy="0"/>
          </a:xfrm>
          <a:prstGeom prst="straightConnector1">
            <a:avLst/>
          </a:prstGeom>
          <a:noFill/>
          <a:ln cap="flat" cmpd="sng" w="10150">
            <a:solidFill>
              <a:srgbClr val="E5E7EB"/>
            </a:solidFill>
            <a:prstDash val="solid"/>
            <a:round/>
            <a:headEnd len="sm" w="sm" type="none"/>
            <a:tailEnd len="sm" w="sm" type="none"/>
          </a:ln>
        </p:spPr>
      </p:cxnSp>
      <p:sp>
        <p:nvSpPr>
          <p:cNvPr id="316" name="Google Shape;316;p12"/>
          <p:cNvSpPr/>
          <p:nvPr/>
        </p:nvSpPr>
        <p:spPr>
          <a:xfrm>
            <a:off x="640080" y="6537960"/>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80"/>
              <a:buFont typeface="Arial"/>
              <a:buNone/>
            </a:pPr>
            <a:r>
              <a:rPr b="0" i="0" lang="en-US" sz="780" u="none" cap="none" strike="noStrike">
                <a:solidFill>
                  <a:srgbClr val="64748B"/>
                </a:solidFill>
                <a:latin typeface="Arial"/>
                <a:ea typeface="Arial"/>
                <a:cs typeface="Arial"/>
                <a:sym typeface="Arial"/>
              </a:rPr>
              <a:t>LaLiga Analytics · Defensa del proyecto</a:t>
            </a:r>
            <a:endParaRPr b="0" i="0" sz="780" u="none" cap="none" strike="noStrike">
              <a:solidFill>
                <a:schemeClr val="dk1"/>
              </a:solidFill>
              <a:latin typeface="Arial"/>
              <a:ea typeface="Arial"/>
              <a:cs typeface="Arial"/>
              <a:sym typeface="Arial"/>
            </a:endParaRPr>
          </a:p>
        </p:txBody>
      </p:sp>
      <p:sp>
        <p:nvSpPr>
          <p:cNvPr id="317" name="Google Shape;317;p12"/>
          <p:cNvSpPr/>
          <p:nvPr/>
        </p:nvSpPr>
        <p:spPr>
          <a:xfrm>
            <a:off x="11155680" y="6510528"/>
            <a:ext cx="5029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9F6E"/>
              </a:buClr>
              <a:buSzPts val="850"/>
              <a:buFont typeface="Arial"/>
              <a:buNone/>
            </a:pPr>
            <a:r>
              <a:rPr b="1" i="0" lang="en-US" sz="850" u="none" cap="none" strike="noStrike">
                <a:solidFill>
                  <a:srgbClr val="0F9F6E"/>
                </a:solidFill>
                <a:latin typeface="Arial"/>
                <a:ea typeface="Arial"/>
                <a:cs typeface="Arial"/>
                <a:sym typeface="Arial"/>
              </a:rPr>
              <a:t>10</a:t>
            </a:r>
            <a:endParaRPr b="0" i="0" sz="850" u="none" cap="none" strike="noStrike">
              <a:solidFill>
                <a:schemeClr val="dk1"/>
              </a:solidFill>
              <a:latin typeface="Arial"/>
              <a:ea typeface="Arial"/>
              <a:cs typeface="Arial"/>
              <a:sym typeface="Arial"/>
            </a:endParaRPr>
          </a:p>
        </p:txBody>
      </p:sp>
      <p:sp>
        <p:nvSpPr>
          <p:cNvPr id="318" name="Google Shape;318;p12"/>
          <p:cNvSpPr/>
          <p:nvPr/>
        </p:nvSpPr>
        <p:spPr>
          <a:xfrm>
            <a:off x="868680" y="1746504"/>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1088136" y="1691640"/>
            <a:ext cx="5303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0" i="0" lang="en-US" sz="1320" u="none" cap="none" strike="noStrike">
                <a:solidFill>
                  <a:srgbClr val="111827"/>
                </a:solidFill>
                <a:latin typeface="Arial"/>
                <a:ea typeface="Arial"/>
                <a:cs typeface="Arial"/>
                <a:sym typeface="Arial"/>
              </a:rPr>
              <a:t>Datos reales de LaLiga transformados en información visual.</a:t>
            </a:r>
            <a:endParaRPr b="0" i="0" sz="1320" u="none" cap="none" strike="noStrike">
              <a:solidFill>
                <a:schemeClr val="dk1"/>
              </a:solidFill>
              <a:latin typeface="Arial"/>
              <a:ea typeface="Arial"/>
              <a:cs typeface="Arial"/>
              <a:sym typeface="Arial"/>
            </a:endParaRPr>
          </a:p>
        </p:txBody>
      </p:sp>
      <p:sp>
        <p:nvSpPr>
          <p:cNvPr id="320" name="Google Shape;320;p12"/>
          <p:cNvSpPr/>
          <p:nvPr/>
        </p:nvSpPr>
        <p:spPr>
          <a:xfrm>
            <a:off x="868680" y="2139696"/>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1088136" y="2084832"/>
            <a:ext cx="5303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0" i="0" lang="en-US" sz="1320" u="none" cap="none" strike="noStrike">
                <a:solidFill>
                  <a:srgbClr val="111827"/>
                </a:solidFill>
                <a:latin typeface="Arial"/>
                <a:ea typeface="Arial"/>
                <a:cs typeface="Arial"/>
                <a:sym typeface="Arial"/>
              </a:rPr>
              <a:t>Dashboard interactivo desarrollado con Streamlit.</a:t>
            </a:r>
            <a:endParaRPr b="0" i="0" sz="1320" u="none" cap="none" strike="noStrike">
              <a:solidFill>
                <a:schemeClr val="dk1"/>
              </a:solidFill>
              <a:latin typeface="Arial"/>
              <a:ea typeface="Arial"/>
              <a:cs typeface="Arial"/>
              <a:sym typeface="Arial"/>
            </a:endParaRPr>
          </a:p>
        </p:txBody>
      </p:sp>
      <p:sp>
        <p:nvSpPr>
          <p:cNvPr id="322" name="Google Shape;322;p12"/>
          <p:cNvSpPr/>
          <p:nvPr/>
        </p:nvSpPr>
        <p:spPr>
          <a:xfrm>
            <a:off x="868680" y="2532888"/>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1088136" y="2478024"/>
            <a:ext cx="5303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0" i="0" lang="en-US" sz="1320" u="none" cap="none" strike="noStrike">
                <a:solidFill>
                  <a:srgbClr val="111827"/>
                </a:solidFill>
                <a:latin typeface="Arial"/>
                <a:ea typeface="Arial"/>
                <a:cs typeface="Arial"/>
                <a:sym typeface="Arial"/>
              </a:rPr>
              <a:t>Modelo de IA integrado en el producto final.</a:t>
            </a:r>
            <a:endParaRPr b="0" i="0" sz="1320" u="none" cap="none" strike="noStrike">
              <a:solidFill>
                <a:schemeClr val="dk1"/>
              </a:solidFill>
              <a:latin typeface="Arial"/>
              <a:ea typeface="Arial"/>
              <a:cs typeface="Arial"/>
              <a:sym typeface="Arial"/>
            </a:endParaRPr>
          </a:p>
        </p:txBody>
      </p:sp>
      <p:sp>
        <p:nvSpPr>
          <p:cNvPr id="324" name="Google Shape;324;p12"/>
          <p:cNvSpPr/>
          <p:nvPr/>
        </p:nvSpPr>
        <p:spPr>
          <a:xfrm>
            <a:off x="868680" y="2926080"/>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1088136" y="2871216"/>
            <a:ext cx="5303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0" i="0" lang="en-US" sz="1320" u="none" cap="none" strike="noStrike">
                <a:solidFill>
                  <a:srgbClr val="111827"/>
                </a:solidFill>
                <a:latin typeface="Arial"/>
                <a:ea typeface="Arial"/>
                <a:cs typeface="Arial"/>
                <a:sym typeface="Arial"/>
              </a:rPr>
              <a:t>Arquitectura POO documentada mediante UML.</a:t>
            </a:r>
            <a:endParaRPr b="0" i="0" sz="1320" u="none" cap="none" strike="noStrike">
              <a:solidFill>
                <a:schemeClr val="dk1"/>
              </a:solidFill>
              <a:latin typeface="Arial"/>
              <a:ea typeface="Arial"/>
              <a:cs typeface="Arial"/>
              <a:sym typeface="Arial"/>
            </a:endParaRPr>
          </a:p>
        </p:txBody>
      </p:sp>
      <p:sp>
        <p:nvSpPr>
          <p:cNvPr id="326" name="Google Shape;326;p12"/>
          <p:cNvSpPr/>
          <p:nvPr/>
        </p:nvSpPr>
        <p:spPr>
          <a:xfrm>
            <a:off x="868680" y="3319272"/>
            <a:ext cx="109728" cy="109728"/>
          </a:xfrm>
          <a:prstGeom prst="ellipse">
            <a:avLst/>
          </a:prstGeom>
          <a:solidFill>
            <a:srgbClr val="0F9F6E"/>
          </a:solidFill>
          <a:ln cap="flat" cmpd="sng" w="12700">
            <a:solidFill>
              <a:srgbClr val="0F9F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1088136" y="3264408"/>
            <a:ext cx="5303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0" i="0" lang="en-US" sz="1320" u="none" cap="none" strike="noStrike">
                <a:solidFill>
                  <a:srgbClr val="111827"/>
                </a:solidFill>
                <a:latin typeface="Arial"/>
                <a:ea typeface="Arial"/>
                <a:cs typeface="Arial"/>
                <a:sym typeface="Arial"/>
              </a:rPr>
              <a:t>Pruebas automáticas con Pytest.</a:t>
            </a:r>
            <a:endParaRPr b="0" i="0" sz="1320" u="none" cap="none" strike="noStrike">
              <a:solidFill>
                <a:schemeClr val="dk1"/>
              </a:solidFill>
              <a:latin typeface="Arial"/>
              <a:ea typeface="Arial"/>
              <a:cs typeface="Arial"/>
              <a:sym typeface="Arial"/>
            </a:endParaRPr>
          </a:p>
        </p:txBody>
      </p:sp>
      <p:sp>
        <p:nvSpPr>
          <p:cNvPr id="328" name="Google Shape;328;p12"/>
          <p:cNvSpPr/>
          <p:nvPr/>
        </p:nvSpPr>
        <p:spPr>
          <a:xfrm>
            <a:off x="868680" y="4206240"/>
            <a:ext cx="5349240" cy="914400"/>
          </a:xfrm>
          <a:prstGeom prst="roundRect">
            <a:avLst>
              <a:gd fmla="val 12000" name="adj"/>
            </a:avLst>
          </a:prstGeom>
          <a:solidFill>
            <a:srgbClr val="ECFDF5"/>
          </a:solidFill>
          <a:ln cap="flat" cmpd="sng" w="10150">
            <a:solidFill>
              <a:srgbClr val="D7DE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1069848" y="4389120"/>
            <a:ext cx="494690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320"/>
              <a:buFont typeface="Arial"/>
              <a:buNone/>
            </a:pPr>
            <a:r>
              <a:rPr b="1" i="0" lang="en-US" sz="1320" u="none" cap="none" strike="noStrike">
                <a:solidFill>
                  <a:srgbClr val="111827"/>
                </a:solidFill>
                <a:latin typeface="Arial"/>
                <a:ea typeface="Arial"/>
                <a:cs typeface="Arial"/>
                <a:sym typeface="Arial"/>
              </a:rPr>
              <a:t>Conclusión final</a:t>
            </a:r>
            <a:endParaRPr b="0" i="0" sz="1320" u="none" cap="none" strike="noStrike">
              <a:solidFill>
                <a:schemeClr val="dk1"/>
              </a:solidFill>
              <a:latin typeface="Arial"/>
              <a:ea typeface="Arial"/>
              <a:cs typeface="Arial"/>
              <a:sym typeface="Arial"/>
            </a:endParaRPr>
          </a:p>
        </p:txBody>
      </p:sp>
      <p:sp>
        <p:nvSpPr>
          <p:cNvPr id="330" name="Google Shape;330;p12"/>
          <p:cNvSpPr/>
          <p:nvPr/>
        </p:nvSpPr>
        <p:spPr>
          <a:xfrm>
            <a:off x="1069848" y="4736592"/>
            <a:ext cx="4946904" cy="164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950"/>
              <a:buFont typeface="Arial"/>
              <a:buNone/>
            </a:pPr>
            <a:r>
              <a:rPr b="0" i="0" lang="en-US" sz="950" u="none" cap="none" strike="noStrike">
                <a:solidFill>
                  <a:srgbClr val="475569"/>
                </a:solidFill>
                <a:latin typeface="Arial"/>
                <a:ea typeface="Arial"/>
                <a:cs typeface="Arial"/>
                <a:sym typeface="Arial"/>
              </a:rPr>
              <a:t>LaLiga Analytics convierte archivos CSV deportivos en una herramienta útil para analizar, visualizar y predecir resultados de forma básica.</a:t>
            </a:r>
            <a:endParaRPr b="0" i="0" sz="950" u="none" cap="none" strike="noStrike">
              <a:solidFill>
                <a:schemeClr val="dk1"/>
              </a:solidFill>
              <a:latin typeface="Arial"/>
              <a:ea typeface="Arial"/>
              <a:cs typeface="Arial"/>
              <a:sym typeface="Arial"/>
            </a:endParaRPr>
          </a:p>
        </p:txBody>
      </p:sp>
      <p:pic>
        <p:nvPicPr>
          <p:cNvPr descr="/mnt/data/github_qr.png" id="331" name="Google Shape;331;p12"/>
          <p:cNvPicPr preferRelativeResize="0"/>
          <p:nvPr/>
        </p:nvPicPr>
        <p:blipFill rotWithShape="1">
          <a:blip r:embed="rId3">
            <a:alphaModFix/>
          </a:blip>
          <a:srcRect b="0" l="0" r="0" t="0"/>
          <a:stretch/>
        </p:blipFill>
        <p:spPr>
          <a:xfrm>
            <a:off x="7543800" y="1554480"/>
            <a:ext cx="2103120" cy="2103120"/>
          </a:xfrm>
          <a:prstGeom prst="rect">
            <a:avLst/>
          </a:prstGeom>
          <a:noFill/>
          <a:ln>
            <a:noFill/>
          </a:ln>
        </p:spPr>
      </p:pic>
      <p:sp>
        <p:nvSpPr>
          <p:cNvPr id="332" name="Google Shape;332;p12"/>
          <p:cNvSpPr/>
          <p:nvPr/>
        </p:nvSpPr>
        <p:spPr>
          <a:xfrm>
            <a:off x="6720840" y="3886200"/>
            <a:ext cx="38404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827"/>
              </a:buClr>
              <a:buSzPts val="1600"/>
              <a:buFont typeface="Arial"/>
              <a:buNone/>
            </a:pPr>
            <a:r>
              <a:rPr b="1" i="0" lang="en-US" sz="1600" u="none" cap="none" strike="noStrike">
                <a:solidFill>
                  <a:srgbClr val="111827"/>
                </a:solidFill>
                <a:latin typeface="Arial"/>
                <a:ea typeface="Arial"/>
                <a:cs typeface="Arial"/>
                <a:sym typeface="Arial"/>
              </a:rPr>
              <a:t>Repositorio GitHub</a:t>
            </a:r>
            <a:endParaRPr b="0" i="0" sz="1600" u="none" cap="none" strike="noStrike">
              <a:solidFill>
                <a:schemeClr val="dk1"/>
              </a:solidFill>
              <a:latin typeface="Arial"/>
              <a:ea typeface="Arial"/>
              <a:cs typeface="Arial"/>
              <a:sym typeface="Arial"/>
            </a:endParaRPr>
          </a:p>
        </p:txBody>
      </p:sp>
      <p:sp>
        <p:nvSpPr>
          <p:cNvPr id="333" name="Google Shape;333;p12"/>
          <p:cNvSpPr/>
          <p:nvPr/>
        </p:nvSpPr>
        <p:spPr>
          <a:xfrm>
            <a:off x="6309360" y="4297680"/>
            <a:ext cx="46634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20"/>
              <a:buFont typeface="Arial"/>
              <a:buNone/>
            </a:pPr>
            <a:r>
              <a:rPr b="0" i="0" lang="en-US" sz="1020" u="none" cap="none" strike="noStrike">
                <a:solidFill>
                  <a:srgbClr val="64748B"/>
                </a:solidFill>
                <a:latin typeface="Arial"/>
                <a:ea typeface="Arial"/>
                <a:cs typeface="Arial"/>
                <a:sym typeface="Arial"/>
              </a:rPr>
              <a:t>github.com/jorgeesg26/laliga-analytics-TFG</a:t>
            </a:r>
            <a:endParaRPr b="0" i="0" sz="1020" u="none" cap="none" strike="noStrike">
              <a:solidFill>
                <a:schemeClr val="dk1"/>
              </a:solidFill>
              <a:latin typeface="Arial"/>
              <a:ea typeface="Arial"/>
              <a:cs typeface="Arial"/>
              <a:sym typeface="Arial"/>
            </a:endParaRPr>
          </a:p>
        </p:txBody>
      </p:sp>
      <p:sp>
        <p:nvSpPr>
          <p:cNvPr id="334" name="Google Shape;334;p12"/>
          <p:cNvSpPr/>
          <p:nvPr/>
        </p:nvSpPr>
        <p:spPr>
          <a:xfrm>
            <a:off x="6675120" y="5349240"/>
            <a:ext cx="3931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9F6E"/>
              </a:buClr>
              <a:buSzPts val="2000"/>
              <a:buFont typeface="Arial"/>
              <a:buNone/>
            </a:pPr>
            <a:r>
              <a:rPr b="1" i="0" lang="en-US" sz="2000" u="none" cap="none" strike="noStrike">
                <a:solidFill>
                  <a:srgbClr val="0F9F6E"/>
                </a:solidFill>
                <a:latin typeface="Arial"/>
                <a:ea typeface="Arial"/>
                <a:cs typeface="Arial"/>
                <a:sym typeface="Arial"/>
              </a:rPr>
              <a:t>Gracias por vuestra atención</a:t>
            </a:r>
            <a:endParaRPr b="0" i="0" sz="20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